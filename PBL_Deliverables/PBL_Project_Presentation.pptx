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31"/>
  </p:notesMasterIdLst>
  <p:sldIdLst>
    <p:sldId id="789" r:id="rId2"/>
    <p:sldId id="594" r:id="rId3"/>
    <p:sldId id="790" r:id="rId4"/>
    <p:sldId id="791" r:id="rId5"/>
    <p:sldId id="792" r:id="rId6"/>
    <p:sldId id="793" r:id="rId7"/>
    <p:sldId id="816" r:id="rId8"/>
    <p:sldId id="794" r:id="rId9"/>
    <p:sldId id="795" r:id="rId10"/>
    <p:sldId id="796" r:id="rId11"/>
    <p:sldId id="797" r:id="rId12"/>
    <p:sldId id="798" r:id="rId13"/>
    <p:sldId id="799" r:id="rId14"/>
    <p:sldId id="800" r:id="rId15"/>
    <p:sldId id="801" r:id="rId16"/>
    <p:sldId id="802" r:id="rId17"/>
    <p:sldId id="803" r:id="rId18"/>
    <p:sldId id="804" r:id="rId19"/>
    <p:sldId id="805" r:id="rId20"/>
    <p:sldId id="806" r:id="rId21"/>
    <p:sldId id="807" r:id="rId22"/>
    <p:sldId id="808" r:id="rId23"/>
    <p:sldId id="809" r:id="rId24"/>
    <p:sldId id="810" r:id="rId25"/>
    <p:sldId id="811" r:id="rId26"/>
    <p:sldId id="812" r:id="rId27"/>
    <p:sldId id="813" r:id="rId28"/>
    <p:sldId id="814" r:id="rId29"/>
    <p:sldId id="81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F9A5BC-7406-4402-B495-A579668D0A41}" v="7" dt="2026-10-01T04:54:25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82" autoAdjust="0"/>
    <p:restoredTop sz="94444" autoAdjust="0"/>
  </p:normalViewPr>
  <p:slideViewPr>
    <p:cSldViewPr>
      <p:cViewPr>
        <p:scale>
          <a:sx n="124" d="100"/>
          <a:sy n="124" d="100"/>
        </p:scale>
        <p:origin x="87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4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1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bhishek Dwivedi [MU - Jaipur]" userId="e7733448-a158-4400-89e7-5aafb1667f2c" providerId="ADAL" clId="{9FF6F9B3-D40E-4C77-8D2A-FCA1BFB96762}"/>
    <pc:docChg chg="custSel modSld">
      <pc:chgData name="Dr. Abhishek Dwivedi [MU - Jaipur]" userId="e7733448-a158-4400-89e7-5aafb1667f2c" providerId="ADAL" clId="{9FF6F9B3-D40E-4C77-8D2A-FCA1BFB96762}" dt="2026-10-01T04:54:43.214" v="43" actId="20577"/>
      <pc:docMkLst>
        <pc:docMk/>
      </pc:docMkLst>
      <pc:sldChg chg="modSp mod">
        <pc:chgData name="Dr. Abhishek Dwivedi [MU - Jaipur]" userId="e7733448-a158-4400-89e7-5aafb1667f2c" providerId="ADAL" clId="{9FF6F9B3-D40E-4C77-8D2A-FCA1BFB96762}" dt="2026-10-01T04:54:28.847" v="39" actId="20577"/>
        <pc:sldMkLst>
          <pc:docMk/>
          <pc:sldMk cId="0" sldId="594"/>
        </pc:sldMkLst>
        <pc:graphicFrameChg chg="mod modGraphic">
          <ac:chgData name="Dr. Abhishek Dwivedi [MU - Jaipur]" userId="e7733448-a158-4400-89e7-5aafb1667f2c" providerId="ADAL" clId="{9FF6F9B3-D40E-4C77-8D2A-FCA1BFB96762}" dt="2026-10-01T04:54:28.847" v="39" actId="20577"/>
          <ac:graphicFrameMkLst>
            <pc:docMk/>
            <pc:sldMk cId="0" sldId="594"/>
            <ac:graphicFrameMk id="4194306" creationId="{00000000-0000-0000-0000-000000000000}"/>
          </ac:graphicFrameMkLst>
        </pc:graphicFrameChg>
      </pc:sldChg>
      <pc:sldChg chg="modSp mod">
        <pc:chgData name="Dr. Abhishek Dwivedi [MU - Jaipur]" userId="e7733448-a158-4400-89e7-5aafb1667f2c" providerId="ADAL" clId="{9FF6F9B3-D40E-4C77-8D2A-FCA1BFB96762}" dt="2026-10-01T04:54:43.214" v="43" actId="20577"/>
        <pc:sldMkLst>
          <pc:docMk/>
          <pc:sldMk cId="4053264149" sldId="789"/>
        </pc:sldMkLst>
        <pc:spChg chg="mod">
          <ac:chgData name="Dr. Abhishek Dwivedi [MU - Jaipur]" userId="e7733448-a158-4400-89e7-5aafb1667f2c" providerId="ADAL" clId="{9FF6F9B3-D40E-4C77-8D2A-FCA1BFB96762}" dt="2026-10-01T04:54:43.214" v="43" actId="20577"/>
          <ac:spMkLst>
            <pc:docMk/>
            <pc:sldMk cId="4053264149" sldId="789"/>
            <ac:spMk id="205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B441F-7C4E-40F5-B8EE-5C01A112D9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E4CF741-851B-4535-944A-184BDC2D473A}">
      <dgm:prSet custT="1"/>
      <dgm:spPr>
        <a:noFill/>
      </dgm:spPr>
      <dgm:t>
        <a:bodyPr/>
        <a:lstStyle/>
        <a:p>
          <a:pPr algn="ctr" rtl="0"/>
          <a:r>
            <a:rPr lang="en-US" sz="2800" b="1" baseline="0" dirty="0">
              <a:solidFill>
                <a:schemeClr val="tx1"/>
              </a:solidFill>
              <a:latin typeface="Bookman Old Style" pitchFamily="18" charset="0"/>
            </a:rPr>
            <a:t>Outline</a:t>
          </a:r>
          <a:endParaRPr lang="en-IN" sz="2800" b="1" baseline="0" dirty="0">
            <a:solidFill>
              <a:schemeClr val="tx1"/>
            </a:solidFill>
            <a:latin typeface="Bookman Old Style" pitchFamily="18" charset="0"/>
          </a:endParaRPr>
        </a:p>
      </dgm:t>
    </dgm:pt>
    <dgm:pt modelId="{F73C2E28-79D1-48D5-BE7F-81A0047FDCF4}" type="sibTrans" cxnId="{A82AA898-152E-464A-9E10-89148995BE5A}">
      <dgm:prSet/>
      <dgm:spPr/>
      <dgm:t>
        <a:bodyPr/>
        <a:lstStyle/>
        <a:p>
          <a:endParaRPr lang="en-IN"/>
        </a:p>
      </dgm:t>
    </dgm:pt>
    <dgm:pt modelId="{D9200DE3-2FEB-427E-A51D-FC1D1E071A96}" type="parTrans" cxnId="{A82AA898-152E-464A-9E10-89148995BE5A}">
      <dgm:prSet/>
      <dgm:spPr/>
      <dgm:t>
        <a:bodyPr/>
        <a:lstStyle/>
        <a:p>
          <a:endParaRPr lang="en-IN"/>
        </a:p>
      </dgm:t>
    </dgm:pt>
    <dgm:pt modelId="{5814AFC0-6C0D-4982-AE20-B817E0596BAC}" type="pres">
      <dgm:prSet presAssocID="{FEBB441F-7C4E-40F5-B8EE-5C01A112D928}" presName="linear" presStyleCnt="0">
        <dgm:presLayoutVars>
          <dgm:animLvl val="lvl"/>
          <dgm:resizeHandles val="exact"/>
        </dgm:presLayoutVars>
      </dgm:prSet>
      <dgm:spPr/>
    </dgm:pt>
    <dgm:pt modelId="{BAF222F9-E1E1-4B7E-AEC9-7232D7D2F6C6}" type="pres">
      <dgm:prSet presAssocID="{FE4CF741-851B-4535-944A-184BDC2D473A}" presName="parentText" presStyleLbl="node1" presStyleIdx="0" presStyleCnt="1" custLinFactNeighborX="926" custLinFactNeighborY="-35736">
        <dgm:presLayoutVars>
          <dgm:chMax val="0"/>
          <dgm:bulletEnabled val="1"/>
        </dgm:presLayoutVars>
      </dgm:prSet>
      <dgm:spPr/>
    </dgm:pt>
  </dgm:ptLst>
  <dgm:cxnLst>
    <dgm:cxn modelId="{CB724244-4598-4C8A-9AEA-3E4A14151854}" type="presOf" srcId="{FEBB441F-7C4E-40F5-B8EE-5C01A112D928}" destId="{5814AFC0-6C0D-4982-AE20-B817E0596BAC}" srcOrd="0" destOrd="0" presId="urn:microsoft.com/office/officeart/2005/8/layout/vList2"/>
    <dgm:cxn modelId="{20414771-1D1E-48A1-85AD-4A8003B4C3AD}" type="presOf" srcId="{FE4CF741-851B-4535-944A-184BDC2D473A}" destId="{BAF222F9-E1E1-4B7E-AEC9-7232D7D2F6C6}" srcOrd="0" destOrd="0" presId="urn:microsoft.com/office/officeart/2005/8/layout/vList2"/>
    <dgm:cxn modelId="{A82AA898-152E-464A-9E10-89148995BE5A}" srcId="{FEBB441F-7C4E-40F5-B8EE-5C01A112D928}" destId="{FE4CF741-851B-4535-944A-184BDC2D473A}" srcOrd="0" destOrd="0" parTransId="{D9200DE3-2FEB-427E-A51D-FC1D1E071A96}" sibTransId="{F73C2E28-79D1-48D5-BE7F-81A0047FDCF4}"/>
    <dgm:cxn modelId="{A842C9ED-C36B-446B-A24F-CAF050C15F3C}" type="presParOf" srcId="{5814AFC0-6C0D-4982-AE20-B817E0596BAC}" destId="{BAF222F9-E1E1-4B7E-AEC9-7232D7D2F6C6}" srcOrd="0" destOrd="0" presId="urn:microsoft.com/office/officeart/2005/8/layout/vList2"/>
  </dgm:cxnLst>
  <dgm:bg>
    <a:gradFill>
      <a:gsLst>
        <a:gs pos="0">
          <a:schemeClr val="accent3">
            <a:hueOff val="-3226488"/>
            <a:satOff val="1079"/>
            <a:lumOff val="-4706"/>
            <a:alphaOff val="0"/>
            <a:tint val="50000"/>
            <a:satMod val="300000"/>
          </a:schemeClr>
        </a:gs>
        <a:gs pos="35000">
          <a:schemeClr val="accent3">
            <a:hueOff val="-3226488"/>
            <a:satOff val="1079"/>
            <a:lumOff val="-4706"/>
            <a:alphaOff val="0"/>
            <a:tint val="37000"/>
            <a:satMod val="300000"/>
          </a:schemeClr>
        </a:gs>
        <a:gs pos="100000">
          <a:schemeClr val="accent3">
            <a:hueOff val="-3226488"/>
            <a:satOff val="1079"/>
            <a:lumOff val="-4706"/>
            <a:alphaOff val="0"/>
            <a:tint val="15000"/>
            <a:satMod val="350000"/>
          </a:schemeClr>
        </a:gs>
      </a:gsLst>
      <a:lin ang="16200000" scaled="1"/>
    </a:grad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1985BB-D400-4032-9A7F-157B22D00981}" type="doc">
      <dgm:prSet loTypeId="urn:microsoft.com/office/officeart/2005/8/layout/vList2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71CDBD18-4118-4431-A6DD-2C46F7E370D6}">
      <dgm:prSet custT="1"/>
      <dgm:spPr/>
      <dgm:t>
        <a:bodyPr/>
        <a:lstStyle/>
        <a:p>
          <a:pPr rtl="0"/>
          <a:r>
            <a:rPr lang="en-IN" sz="1600" b="0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 of </a:t>
          </a:r>
        </a:p>
      </dgm:t>
    </dgm:pt>
    <dgm:pt modelId="{34930CE3-64F8-4911-8AC3-812DB7DECAF5}" type="sibTrans" cxnId="{0C2E440E-96E8-4EC0-9A36-D2B476C27482}">
      <dgm:prSet/>
      <dgm:spPr/>
      <dgm:t>
        <a:bodyPr/>
        <a:lstStyle/>
        <a:p>
          <a:endParaRPr lang="en-IN" sz="1600" b="0" dirty="0"/>
        </a:p>
      </dgm:t>
    </dgm:pt>
    <dgm:pt modelId="{5AC2A9D6-9D9E-48D6-B15D-E20DBEEDD651}" type="parTrans" cxnId="{0C2E440E-96E8-4EC0-9A36-D2B476C27482}">
      <dgm:prSet/>
      <dgm:spPr/>
      <dgm:t>
        <a:bodyPr/>
        <a:lstStyle/>
        <a:p>
          <a:endParaRPr lang="en-IN" sz="1600" b="0" dirty="0"/>
        </a:p>
      </dgm:t>
    </dgm:pt>
    <dgm:pt modelId="{EDED98A6-E577-4BF1-B923-07978E24A3BF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0B072-5852-48F9-8360-9940C54E6787}" type="parTrans" cxnId="{4310055D-FFC7-43C0-BDD0-5085E6269E41}">
      <dgm:prSet/>
      <dgm:spPr/>
      <dgm:t>
        <a:bodyPr/>
        <a:lstStyle/>
        <a:p>
          <a:endParaRPr lang="en-US" sz="1600"/>
        </a:p>
      </dgm:t>
    </dgm:pt>
    <dgm:pt modelId="{1606AF16-3E64-476C-B2E3-F6AE84553C0D}" type="sibTrans" cxnId="{4310055D-FFC7-43C0-BDD0-5085E6269E41}">
      <dgm:prSet/>
      <dgm:spPr/>
      <dgm:t>
        <a:bodyPr/>
        <a:lstStyle/>
        <a:p>
          <a:endParaRPr lang="en-US" sz="1600"/>
        </a:p>
      </dgm:t>
    </dgm:pt>
    <dgm:pt modelId="{B708EB2A-160D-4FBF-A431-724EBFFA1170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421003-5595-4F99-A74D-E17283E58223}" type="parTrans" cxnId="{5CE8114E-C44D-405F-9FDC-9F2F7990A9EA}">
      <dgm:prSet/>
      <dgm:spPr/>
      <dgm:t>
        <a:bodyPr/>
        <a:lstStyle/>
        <a:p>
          <a:endParaRPr lang="en-US" sz="1600"/>
        </a:p>
      </dgm:t>
    </dgm:pt>
    <dgm:pt modelId="{2B511BF1-E72F-461A-B258-468698CD493B}" type="sibTrans" cxnId="{5CE8114E-C44D-405F-9FDC-9F2F7990A9EA}">
      <dgm:prSet/>
      <dgm:spPr/>
      <dgm:t>
        <a:bodyPr/>
        <a:lstStyle/>
        <a:p>
          <a:endParaRPr lang="en-US" sz="1600"/>
        </a:p>
      </dgm:t>
    </dgm:pt>
    <dgm:pt modelId="{64D03EA2-BA6E-4BAA-A2C1-8E327040F0EA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DD5EAD-913C-4ECD-8E28-16357CE10075}" type="parTrans" cxnId="{B6645EA0-60A9-4BDD-BA3A-1F2131D588D2}">
      <dgm:prSet/>
      <dgm:spPr/>
      <dgm:t>
        <a:bodyPr/>
        <a:lstStyle/>
        <a:p>
          <a:endParaRPr lang="en-US" sz="1600"/>
        </a:p>
      </dgm:t>
    </dgm:pt>
    <dgm:pt modelId="{3B84A4A5-6B53-481C-8A55-262095344C5C}" type="sibTrans" cxnId="{B6645EA0-60A9-4BDD-BA3A-1F2131D588D2}">
      <dgm:prSet/>
      <dgm:spPr/>
      <dgm:t>
        <a:bodyPr/>
        <a:lstStyle/>
        <a:p>
          <a:endParaRPr lang="en-US" sz="1600"/>
        </a:p>
      </dgm:t>
    </dgm:pt>
    <dgm:pt modelId="{AA483ED3-D149-463C-ACB7-E064D7D718AC}">
      <dgm:prSet custT="1"/>
      <dgm:spPr/>
      <dgm:t>
        <a:bodyPr/>
        <a:lstStyle/>
        <a:p>
          <a:r>
            <a:rPr lang="en-US" sz="1600" dirty="0">
              <a:latin typeface="Bookman Old Style" panose="02050604050505020204" pitchFamily="18" charset="0"/>
            </a:rPr>
            <a:t>References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8AEDEE-7CDC-44EB-AE13-8423D25FB422}" type="parTrans" cxnId="{D7DC135A-3878-4C83-8E68-D9B8242A3A82}">
      <dgm:prSet/>
      <dgm:spPr/>
      <dgm:t>
        <a:bodyPr/>
        <a:lstStyle/>
        <a:p>
          <a:endParaRPr lang="en-US" sz="1600"/>
        </a:p>
      </dgm:t>
    </dgm:pt>
    <dgm:pt modelId="{C36D5130-2A76-4235-9A72-47A1DD2E59F2}" type="sibTrans" cxnId="{D7DC135A-3878-4C83-8E68-D9B8242A3A82}">
      <dgm:prSet/>
      <dgm:spPr/>
      <dgm:t>
        <a:bodyPr/>
        <a:lstStyle/>
        <a:p>
          <a:endParaRPr lang="en-US" sz="1600"/>
        </a:p>
      </dgm:t>
    </dgm:pt>
    <dgm:pt modelId="{401969DB-ED9C-4C15-84BE-7C179E216810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9F1852-07B4-4E59-975D-9E5854ECC68C}" type="parTrans" cxnId="{FF2ABAA9-3AD4-4F4E-96E4-0C1EDC9F9FE6}">
      <dgm:prSet/>
      <dgm:spPr/>
      <dgm:t>
        <a:bodyPr/>
        <a:lstStyle/>
        <a:p>
          <a:endParaRPr lang="en-US" sz="1600"/>
        </a:p>
      </dgm:t>
    </dgm:pt>
    <dgm:pt modelId="{5D327329-CABE-4E07-808B-AA271E5179B2}" type="sibTrans" cxnId="{FF2ABAA9-3AD4-4F4E-96E4-0C1EDC9F9FE6}">
      <dgm:prSet/>
      <dgm:spPr/>
      <dgm:t>
        <a:bodyPr/>
        <a:lstStyle/>
        <a:p>
          <a:endParaRPr lang="en-US" sz="1600"/>
        </a:p>
      </dgm:t>
    </dgm:pt>
    <dgm:pt modelId="{24A6D890-3CF1-42D4-9BDE-D0818C16299D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gm:t>
    </dgm:pt>
    <dgm:pt modelId="{5EA712B7-C30A-4BBE-85BD-F7ABD2DC517B}" type="parTrans" cxnId="{CC108F6D-090A-4355-9911-A54EC39CF3DB}">
      <dgm:prSet/>
      <dgm:spPr/>
      <dgm:t>
        <a:bodyPr/>
        <a:lstStyle/>
        <a:p>
          <a:endParaRPr lang="en-US" sz="1600"/>
        </a:p>
      </dgm:t>
    </dgm:pt>
    <dgm:pt modelId="{8B60D516-3070-4E0F-8526-1C67C7707C79}" type="sibTrans" cxnId="{CC108F6D-090A-4355-9911-A54EC39CF3DB}">
      <dgm:prSet/>
      <dgm:spPr/>
      <dgm:t>
        <a:bodyPr/>
        <a:lstStyle/>
        <a:p>
          <a:endParaRPr lang="en-US" sz="1600"/>
        </a:p>
      </dgm:t>
    </dgm:pt>
    <dgm:pt modelId="{BE2F195E-2BA7-4462-96C7-2B7232AC5D7A}">
      <dgm:prSet custT="1"/>
      <dgm:spPr/>
      <dgm:t>
        <a:bodyPr/>
        <a:lstStyle/>
        <a:p>
          <a:pPr rtl="0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Methodology </a:t>
          </a:r>
          <a:endParaRPr lang="en-IN" sz="1600" b="0" strike="noStrike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8214F9-7E4A-4662-9CDC-4598C4A4C957}" type="parTrans" cxnId="{CC8D0570-3AD3-4282-84FD-86289F4F0AEF}">
      <dgm:prSet/>
      <dgm:spPr/>
      <dgm:t>
        <a:bodyPr/>
        <a:lstStyle/>
        <a:p>
          <a:endParaRPr lang="en-US" sz="1600"/>
        </a:p>
      </dgm:t>
    </dgm:pt>
    <dgm:pt modelId="{C24995FB-A4C3-4BD0-B83D-B6098D83A9B0}" type="sibTrans" cxnId="{CC8D0570-3AD3-4282-84FD-86289F4F0AEF}">
      <dgm:prSet/>
      <dgm:spPr/>
      <dgm:t>
        <a:bodyPr/>
        <a:lstStyle/>
        <a:p>
          <a:endParaRPr lang="en-US" sz="1600"/>
        </a:p>
      </dgm:t>
    </dgm:pt>
    <dgm:pt modelId="{3D1A6D30-8326-4B6A-A4F0-BBC89CDFB270}">
      <dgm:prSet custT="1"/>
      <dgm:spPr/>
      <dgm:t>
        <a:bodyPr/>
        <a:lstStyle/>
        <a:p>
          <a:pPr rtl="0"/>
          <a:r>
            <a:rPr lang="en-IN" sz="1600" b="0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Abstract</a:t>
          </a:r>
        </a:p>
      </dgm:t>
    </dgm:pt>
    <dgm:pt modelId="{78CDFF51-FDA3-49AC-87AE-EBF823BB1648}" type="parTrans" cxnId="{D1B8F29D-8B56-46E1-9CC4-BC46DB7BB56C}">
      <dgm:prSet/>
      <dgm:spPr/>
      <dgm:t>
        <a:bodyPr/>
        <a:lstStyle/>
        <a:p>
          <a:endParaRPr lang="en-US"/>
        </a:p>
      </dgm:t>
    </dgm:pt>
    <dgm:pt modelId="{C9230B9F-5B32-4D8C-9386-7373C9BED094}" type="sibTrans" cxnId="{D1B8F29D-8B56-46E1-9CC4-BC46DB7BB56C}">
      <dgm:prSet/>
      <dgm:spPr/>
      <dgm:t>
        <a:bodyPr/>
        <a:lstStyle/>
        <a:p>
          <a:endParaRPr lang="en-US"/>
        </a:p>
      </dgm:t>
    </dgm:pt>
    <dgm:pt modelId="{89026886-4D1C-4099-8C61-0C275DE5616F}">
      <dgm:prSet custT="1"/>
      <dgm:spPr/>
      <dgm:t>
        <a:bodyPr/>
        <a:lstStyle/>
        <a:p>
          <a:pPr rtl="0"/>
          <a:r>
            <a:rPr lang="en-IN" sz="1600" b="0" strike="noStrike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Result and Discussion on Outcome (Conference Paper/ Patent/ Copyrights)</a:t>
          </a:r>
        </a:p>
      </dgm:t>
    </dgm:pt>
    <dgm:pt modelId="{63072F07-4E61-495A-AC24-EC8752BD1221}" type="parTrans" cxnId="{B52BC8CF-576A-4312-908F-FD77EC17B00B}">
      <dgm:prSet/>
      <dgm:spPr/>
      <dgm:t>
        <a:bodyPr/>
        <a:lstStyle/>
        <a:p>
          <a:endParaRPr lang="en-IN"/>
        </a:p>
      </dgm:t>
    </dgm:pt>
    <dgm:pt modelId="{06EB6932-0A5F-4F3B-9183-58570BA7E1F7}" type="sibTrans" cxnId="{B52BC8CF-576A-4312-908F-FD77EC17B00B}">
      <dgm:prSet/>
      <dgm:spPr/>
      <dgm:t>
        <a:bodyPr/>
        <a:lstStyle/>
        <a:p>
          <a:endParaRPr lang="en-IN"/>
        </a:p>
      </dgm:t>
    </dgm:pt>
    <dgm:pt modelId="{FA265CEF-E1D3-4F42-BCA9-D740473397B3}" type="pres">
      <dgm:prSet presAssocID="{FA1985BB-D400-4032-9A7F-157B22D00981}" presName="linear" presStyleCnt="0">
        <dgm:presLayoutVars>
          <dgm:animLvl val="lvl"/>
          <dgm:resizeHandles val="exact"/>
        </dgm:presLayoutVars>
      </dgm:prSet>
      <dgm:spPr/>
    </dgm:pt>
    <dgm:pt modelId="{8AF73CB3-664F-4474-81B3-92D97B6E2F23}" type="pres">
      <dgm:prSet presAssocID="{3D1A6D30-8326-4B6A-A4F0-BBC89CDFB270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1E33F72A-FE28-4128-826C-9B7F160A7E7E}" type="pres">
      <dgm:prSet presAssocID="{C9230B9F-5B32-4D8C-9386-7373C9BED094}" presName="spacer" presStyleCnt="0"/>
      <dgm:spPr/>
    </dgm:pt>
    <dgm:pt modelId="{0C292BC2-ADFF-490F-A1D6-7FDA3C25D23C}" type="pres">
      <dgm:prSet presAssocID="{71CDBD18-4118-4431-A6DD-2C46F7E370D6}" presName="parentText" presStyleLbl="node1" presStyleIdx="1" presStyleCnt="10" custLinFactNeighborY="-1121">
        <dgm:presLayoutVars>
          <dgm:chMax val="0"/>
          <dgm:bulletEnabled val="1"/>
        </dgm:presLayoutVars>
      </dgm:prSet>
      <dgm:spPr/>
    </dgm:pt>
    <dgm:pt modelId="{9EF7D786-5CE1-44B1-82A6-0A38D8666C77}" type="pres">
      <dgm:prSet presAssocID="{34930CE3-64F8-4911-8AC3-812DB7DECAF5}" presName="spacer" presStyleCnt="0"/>
      <dgm:spPr/>
    </dgm:pt>
    <dgm:pt modelId="{095A8D5B-507B-49DD-9F50-21D5783DA766}" type="pres">
      <dgm:prSet presAssocID="{401969DB-ED9C-4C15-84BE-7C179E216810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AB2FE273-2CBC-42D7-8B88-960497F425CD}" type="pres">
      <dgm:prSet presAssocID="{5D327329-CABE-4E07-808B-AA271E5179B2}" presName="spacer" presStyleCnt="0"/>
      <dgm:spPr/>
    </dgm:pt>
    <dgm:pt modelId="{D59183E6-5BCE-4FD7-904C-1F49A18FA90A}" type="pres">
      <dgm:prSet presAssocID="{24A6D890-3CF1-42D4-9BDE-D0818C16299D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4FC79289-272C-462F-8407-B03F236808AE}" type="pres">
      <dgm:prSet presAssocID="{8B60D516-3070-4E0F-8526-1C67C7707C79}" presName="spacer" presStyleCnt="0"/>
      <dgm:spPr/>
    </dgm:pt>
    <dgm:pt modelId="{A38FE33E-AAC5-4E0B-8577-5ECAA37FA220}" type="pres">
      <dgm:prSet presAssocID="{EDED98A6-E577-4BF1-B923-07978E24A3BF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A70457E0-9E15-4145-8AFF-3F0FA33A6D66}" type="pres">
      <dgm:prSet presAssocID="{1606AF16-3E64-476C-B2E3-F6AE84553C0D}" presName="spacer" presStyleCnt="0"/>
      <dgm:spPr/>
    </dgm:pt>
    <dgm:pt modelId="{A96DAACA-F17E-47F0-B672-F8211FEB47AC}" type="pres">
      <dgm:prSet presAssocID="{B708EB2A-160D-4FBF-A431-724EBFFA1170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6B1F05B8-4CD7-4C5E-B083-9DB5BB967236}" type="pres">
      <dgm:prSet presAssocID="{2B511BF1-E72F-461A-B258-468698CD493B}" presName="spacer" presStyleCnt="0"/>
      <dgm:spPr/>
    </dgm:pt>
    <dgm:pt modelId="{6885AA65-2AA3-46B5-A084-7E7DD856A146}" type="pres">
      <dgm:prSet presAssocID="{64D03EA2-BA6E-4BAA-A2C1-8E327040F0EA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A90DDBFD-C452-4908-8B22-E5A28FD4AA10}" type="pres">
      <dgm:prSet presAssocID="{3B84A4A5-6B53-481C-8A55-262095344C5C}" presName="spacer" presStyleCnt="0"/>
      <dgm:spPr/>
    </dgm:pt>
    <dgm:pt modelId="{FA3189F3-6CE2-4CA8-9D73-CCF3A091FC32}" type="pres">
      <dgm:prSet presAssocID="{BE2F195E-2BA7-4462-96C7-2B7232AC5D7A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5F77AADB-777B-4D7F-B851-7DE8D4D55FCB}" type="pres">
      <dgm:prSet presAssocID="{C24995FB-A4C3-4BD0-B83D-B6098D83A9B0}" presName="spacer" presStyleCnt="0"/>
      <dgm:spPr/>
    </dgm:pt>
    <dgm:pt modelId="{ACD9FB09-745B-43A9-A14D-18BE8D6CE92F}" type="pres">
      <dgm:prSet presAssocID="{89026886-4D1C-4099-8C61-0C275DE5616F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FA45AC09-2E0E-40D4-8018-BE6D74560493}" type="pres">
      <dgm:prSet presAssocID="{06EB6932-0A5F-4F3B-9183-58570BA7E1F7}" presName="spacer" presStyleCnt="0"/>
      <dgm:spPr/>
    </dgm:pt>
    <dgm:pt modelId="{1B872D9D-FE3C-49B3-9DAD-AF5052A20FFE}" type="pres">
      <dgm:prSet presAssocID="{AA483ED3-D149-463C-ACB7-E064D7D718AC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D46C880B-70F5-4330-81AB-5E9CBC132F0A}" type="presOf" srcId="{401969DB-ED9C-4C15-84BE-7C179E216810}" destId="{095A8D5B-507B-49DD-9F50-21D5783DA766}" srcOrd="0" destOrd="0" presId="urn:microsoft.com/office/officeart/2005/8/layout/vList2"/>
    <dgm:cxn modelId="{0C2E440E-96E8-4EC0-9A36-D2B476C27482}" srcId="{FA1985BB-D400-4032-9A7F-157B22D00981}" destId="{71CDBD18-4118-4431-A6DD-2C46F7E370D6}" srcOrd="1" destOrd="0" parTransId="{5AC2A9D6-9D9E-48D6-B15D-E20DBEEDD651}" sibTransId="{34930CE3-64F8-4911-8AC3-812DB7DECAF5}"/>
    <dgm:cxn modelId="{2B1A3646-A7D0-4A42-A6AC-74CE580D15B8}" type="presOf" srcId="{EDED98A6-E577-4BF1-B923-07978E24A3BF}" destId="{A38FE33E-AAC5-4E0B-8577-5ECAA37FA220}" srcOrd="0" destOrd="0" presId="urn:microsoft.com/office/officeart/2005/8/layout/vList2"/>
    <dgm:cxn modelId="{5CE8114E-C44D-405F-9FDC-9F2F7990A9EA}" srcId="{FA1985BB-D400-4032-9A7F-157B22D00981}" destId="{B708EB2A-160D-4FBF-A431-724EBFFA1170}" srcOrd="5" destOrd="0" parTransId="{FF421003-5595-4F99-A74D-E17283E58223}" sibTransId="{2B511BF1-E72F-461A-B258-468698CD493B}"/>
    <dgm:cxn modelId="{D7DC135A-3878-4C83-8E68-D9B8242A3A82}" srcId="{FA1985BB-D400-4032-9A7F-157B22D00981}" destId="{AA483ED3-D149-463C-ACB7-E064D7D718AC}" srcOrd="9" destOrd="0" parTransId="{978AEDEE-7CDC-44EB-AE13-8423D25FB422}" sibTransId="{C36D5130-2A76-4235-9A72-47A1DD2E59F2}"/>
    <dgm:cxn modelId="{4310055D-FFC7-43C0-BDD0-5085E6269E41}" srcId="{FA1985BB-D400-4032-9A7F-157B22D00981}" destId="{EDED98A6-E577-4BF1-B923-07978E24A3BF}" srcOrd="4" destOrd="0" parTransId="{42B0B072-5852-48F9-8360-9940C54E6787}" sibTransId="{1606AF16-3E64-476C-B2E3-F6AE84553C0D}"/>
    <dgm:cxn modelId="{BBAB885F-F7EB-45E4-B4BB-B81A402A9794}" type="presOf" srcId="{89026886-4D1C-4099-8C61-0C275DE5616F}" destId="{ACD9FB09-745B-43A9-A14D-18BE8D6CE92F}" srcOrd="0" destOrd="0" presId="urn:microsoft.com/office/officeart/2005/8/layout/vList2"/>
    <dgm:cxn modelId="{CC108F6D-090A-4355-9911-A54EC39CF3DB}" srcId="{FA1985BB-D400-4032-9A7F-157B22D00981}" destId="{24A6D890-3CF1-42D4-9BDE-D0818C16299D}" srcOrd="3" destOrd="0" parTransId="{5EA712B7-C30A-4BBE-85BD-F7ABD2DC517B}" sibTransId="{8B60D516-3070-4E0F-8526-1C67C7707C79}"/>
    <dgm:cxn modelId="{CC8D0570-3AD3-4282-84FD-86289F4F0AEF}" srcId="{FA1985BB-D400-4032-9A7F-157B22D00981}" destId="{BE2F195E-2BA7-4462-96C7-2B7232AC5D7A}" srcOrd="7" destOrd="0" parTransId="{E38214F9-7E4A-4662-9CDC-4598C4A4C957}" sibTransId="{C24995FB-A4C3-4BD0-B83D-B6098D83A9B0}"/>
    <dgm:cxn modelId="{85A76B72-0009-4F15-9802-358413863C64}" type="presOf" srcId="{3D1A6D30-8326-4B6A-A4F0-BBC89CDFB270}" destId="{8AF73CB3-664F-4474-81B3-92D97B6E2F23}" srcOrd="0" destOrd="0" presId="urn:microsoft.com/office/officeart/2005/8/layout/vList2"/>
    <dgm:cxn modelId="{C6A4C376-EBEC-4804-B3E8-0D4B0D085B34}" type="presOf" srcId="{24A6D890-3CF1-42D4-9BDE-D0818C16299D}" destId="{D59183E6-5BCE-4FD7-904C-1F49A18FA90A}" srcOrd="0" destOrd="0" presId="urn:microsoft.com/office/officeart/2005/8/layout/vList2"/>
    <dgm:cxn modelId="{CE7C8080-A451-4F00-8691-B1323551A1F0}" type="presOf" srcId="{B708EB2A-160D-4FBF-A431-724EBFFA1170}" destId="{A96DAACA-F17E-47F0-B672-F8211FEB47AC}" srcOrd="0" destOrd="0" presId="urn:microsoft.com/office/officeart/2005/8/layout/vList2"/>
    <dgm:cxn modelId="{F5C5B88A-330C-4462-AE72-DC8D39CAE661}" type="presOf" srcId="{64D03EA2-BA6E-4BAA-A2C1-8E327040F0EA}" destId="{6885AA65-2AA3-46B5-A084-7E7DD856A146}" srcOrd="0" destOrd="0" presId="urn:microsoft.com/office/officeart/2005/8/layout/vList2"/>
    <dgm:cxn modelId="{41B66E96-4EAC-4FD0-8E00-3F321CE6E736}" type="presOf" srcId="{71CDBD18-4118-4431-A6DD-2C46F7E370D6}" destId="{0C292BC2-ADFF-490F-A1D6-7FDA3C25D23C}" srcOrd="0" destOrd="0" presId="urn:microsoft.com/office/officeart/2005/8/layout/vList2"/>
    <dgm:cxn modelId="{D1B8F29D-8B56-46E1-9CC4-BC46DB7BB56C}" srcId="{FA1985BB-D400-4032-9A7F-157B22D00981}" destId="{3D1A6D30-8326-4B6A-A4F0-BBC89CDFB270}" srcOrd="0" destOrd="0" parTransId="{78CDFF51-FDA3-49AC-87AE-EBF823BB1648}" sibTransId="{C9230B9F-5B32-4D8C-9386-7373C9BED094}"/>
    <dgm:cxn modelId="{B6645EA0-60A9-4BDD-BA3A-1F2131D588D2}" srcId="{FA1985BB-D400-4032-9A7F-157B22D00981}" destId="{64D03EA2-BA6E-4BAA-A2C1-8E327040F0EA}" srcOrd="6" destOrd="0" parTransId="{8CDD5EAD-913C-4ECD-8E28-16357CE10075}" sibTransId="{3B84A4A5-6B53-481C-8A55-262095344C5C}"/>
    <dgm:cxn modelId="{FF2ABAA9-3AD4-4F4E-96E4-0C1EDC9F9FE6}" srcId="{FA1985BB-D400-4032-9A7F-157B22D00981}" destId="{401969DB-ED9C-4C15-84BE-7C179E216810}" srcOrd="2" destOrd="0" parTransId="{399F1852-07B4-4E59-975D-9E5854ECC68C}" sibTransId="{5D327329-CABE-4E07-808B-AA271E5179B2}"/>
    <dgm:cxn modelId="{335BD1C0-2D7E-47AC-928B-0B0B5765A5AB}" type="presOf" srcId="{FA1985BB-D400-4032-9A7F-157B22D00981}" destId="{FA265CEF-E1D3-4F42-BCA9-D740473397B3}" srcOrd="0" destOrd="0" presId="urn:microsoft.com/office/officeart/2005/8/layout/vList2"/>
    <dgm:cxn modelId="{1892B9C4-D4DE-43C9-8126-A7E7889CE3CD}" type="presOf" srcId="{BE2F195E-2BA7-4462-96C7-2B7232AC5D7A}" destId="{FA3189F3-6CE2-4CA8-9D73-CCF3A091FC32}" srcOrd="0" destOrd="0" presId="urn:microsoft.com/office/officeart/2005/8/layout/vList2"/>
    <dgm:cxn modelId="{B52BC8CF-576A-4312-908F-FD77EC17B00B}" srcId="{FA1985BB-D400-4032-9A7F-157B22D00981}" destId="{89026886-4D1C-4099-8C61-0C275DE5616F}" srcOrd="8" destOrd="0" parTransId="{63072F07-4E61-495A-AC24-EC8752BD1221}" sibTransId="{06EB6932-0A5F-4F3B-9183-58570BA7E1F7}"/>
    <dgm:cxn modelId="{B27109D0-E259-4C50-A12A-FE51BC4E1497}" type="presOf" srcId="{AA483ED3-D149-463C-ACB7-E064D7D718AC}" destId="{1B872D9D-FE3C-49B3-9DAD-AF5052A20FFE}" srcOrd="0" destOrd="0" presId="urn:microsoft.com/office/officeart/2005/8/layout/vList2"/>
    <dgm:cxn modelId="{3638C0A1-CCC6-42AA-8E6D-A7BB2A8D7433}" type="presParOf" srcId="{FA265CEF-E1D3-4F42-BCA9-D740473397B3}" destId="{8AF73CB3-664F-4474-81B3-92D97B6E2F23}" srcOrd="0" destOrd="0" presId="urn:microsoft.com/office/officeart/2005/8/layout/vList2"/>
    <dgm:cxn modelId="{36722D97-AFAF-426C-B57A-DFDB099D14AF}" type="presParOf" srcId="{FA265CEF-E1D3-4F42-BCA9-D740473397B3}" destId="{1E33F72A-FE28-4128-826C-9B7F160A7E7E}" srcOrd="1" destOrd="0" presId="urn:microsoft.com/office/officeart/2005/8/layout/vList2"/>
    <dgm:cxn modelId="{E43D6A9A-D778-4676-A5C6-95E4A808BACE}" type="presParOf" srcId="{FA265CEF-E1D3-4F42-BCA9-D740473397B3}" destId="{0C292BC2-ADFF-490F-A1D6-7FDA3C25D23C}" srcOrd="2" destOrd="0" presId="urn:microsoft.com/office/officeart/2005/8/layout/vList2"/>
    <dgm:cxn modelId="{26F81564-AE95-4948-AC98-EB29A4C5A48D}" type="presParOf" srcId="{FA265CEF-E1D3-4F42-BCA9-D740473397B3}" destId="{9EF7D786-5CE1-44B1-82A6-0A38D8666C77}" srcOrd="3" destOrd="0" presId="urn:microsoft.com/office/officeart/2005/8/layout/vList2"/>
    <dgm:cxn modelId="{7B4A2029-66D1-47D3-97D8-027F6B900503}" type="presParOf" srcId="{FA265CEF-E1D3-4F42-BCA9-D740473397B3}" destId="{095A8D5B-507B-49DD-9F50-21D5783DA766}" srcOrd="4" destOrd="0" presId="urn:microsoft.com/office/officeart/2005/8/layout/vList2"/>
    <dgm:cxn modelId="{9FDB2C2D-F4E5-41D5-AF33-78507C6F0686}" type="presParOf" srcId="{FA265CEF-E1D3-4F42-BCA9-D740473397B3}" destId="{AB2FE273-2CBC-42D7-8B88-960497F425CD}" srcOrd="5" destOrd="0" presId="urn:microsoft.com/office/officeart/2005/8/layout/vList2"/>
    <dgm:cxn modelId="{747BBF30-1ECB-449C-A583-0B8AFF1087E6}" type="presParOf" srcId="{FA265CEF-E1D3-4F42-BCA9-D740473397B3}" destId="{D59183E6-5BCE-4FD7-904C-1F49A18FA90A}" srcOrd="6" destOrd="0" presId="urn:microsoft.com/office/officeart/2005/8/layout/vList2"/>
    <dgm:cxn modelId="{80D8713E-E5E6-4AD7-B7B1-46A2A0E4166B}" type="presParOf" srcId="{FA265CEF-E1D3-4F42-BCA9-D740473397B3}" destId="{4FC79289-272C-462F-8407-B03F236808AE}" srcOrd="7" destOrd="0" presId="urn:microsoft.com/office/officeart/2005/8/layout/vList2"/>
    <dgm:cxn modelId="{DE8C4887-4C5F-4B86-8750-700FC0F47419}" type="presParOf" srcId="{FA265CEF-E1D3-4F42-BCA9-D740473397B3}" destId="{A38FE33E-AAC5-4E0B-8577-5ECAA37FA220}" srcOrd="8" destOrd="0" presId="urn:microsoft.com/office/officeart/2005/8/layout/vList2"/>
    <dgm:cxn modelId="{376DAD15-4F6A-4011-BFD3-D869DFCADCDB}" type="presParOf" srcId="{FA265CEF-E1D3-4F42-BCA9-D740473397B3}" destId="{A70457E0-9E15-4145-8AFF-3F0FA33A6D66}" srcOrd="9" destOrd="0" presId="urn:microsoft.com/office/officeart/2005/8/layout/vList2"/>
    <dgm:cxn modelId="{0F399570-5E21-4ED0-8C3A-487392DC1F02}" type="presParOf" srcId="{FA265CEF-E1D3-4F42-BCA9-D740473397B3}" destId="{A96DAACA-F17E-47F0-B672-F8211FEB47AC}" srcOrd="10" destOrd="0" presId="urn:microsoft.com/office/officeart/2005/8/layout/vList2"/>
    <dgm:cxn modelId="{7B6EBBA7-8E0B-49C7-AE38-C50507B2C171}" type="presParOf" srcId="{FA265CEF-E1D3-4F42-BCA9-D740473397B3}" destId="{6B1F05B8-4CD7-4C5E-B083-9DB5BB967236}" srcOrd="11" destOrd="0" presId="urn:microsoft.com/office/officeart/2005/8/layout/vList2"/>
    <dgm:cxn modelId="{9EB17FA9-3573-457F-B72E-9389EE98CFCA}" type="presParOf" srcId="{FA265CEF-E1D3-4F42-BCA9-D740473397B3}" destId="{6885AA65-2AA3-46B5-A084-7E7DD856A146}" srcOrd="12" destOrd="0" presId="urn:microsoft.com/office/officeart/2005/8/layout/vList2"/>
    <dgm:cxn modelId="{85FD7275-B6F2-4195-90B5-DBE0E9C4D788}" type="presParOf" srcId="{FA265CEF-E1D3-4F42-BCA9-D740473397B3}" destId="{A90DDBFD-C452-4908-8B22-E5A28FD4AA10}" srcOrd="13" destOrd="0" presId="urn:microsoft.com/office/officeart/2005/8/layout/vList2"/>
    <dgm:cxn modelId="{61FD1A85-F392-483C-B199-D66EB117A791}" type="presParOf" srcId="{FA265CEF-E1D3-4F42-BCA9-D740473397B3}" destId="{FA3189F3-6CE2-4CA8-9D73-CCF3A091FC32}" srcOrd="14" destOrd="0" presId="urn:microsoft.com/office/officeart/2005/8/layout/vList2"/>
    <dgm:cxn modelId="{E83650C3-12CA-4EB3-90CA-D51F985A0E10}" type="presParOf" srcId="{FA265CEF-E1D3-4F42-BCA9-D740473397B3}" destId="{5F77AADB-777B-4D7F-B851-7DE8D4D55FCB}" srcOrd="15" destOrd="0" presId="urn:microsoft.com/office/officeart/2005/8/layout/vList2"/>
    <dgm:cxn modelId="{A9D91C88-4D31-4404-B7DA-75895782BEA2}" type="presParOf" srcId="{FA265CEF-E1D3-4F42-BCA9-D740473397B3}" destId="{ACD9FB09-745B-43A9-A14D-18BE8D6CE92F}" srcOrd="16" destOrd="0" presId="urn:microsoft.com/office/officeart/2005/8/layout/vList2"/>
    <dgm:cxn modelId="{A6E9516F-411D-469B-872C-BDD23DAB6D82}" type="presParOf" srcId="{FA265CEF-E1D3-4F42-BCA9-D740473397B3}" destId="{FA45AC09-2E0E-40D4-8018-BE6D74560493}" srcOrd="17" destOrd="0" presId="urn:microsoft.com/office/officeart/2005/8/layout/vList2"/>
    <dgm:cxn modelId="{3487AA50-CB0C-474E-8E9F-8DA6274CBAF3}" type="presParOf" srcId="{FA265CEF-E1D3-4F42-BCA9-D740473397B3}" destId="{1B872D9D-FE3C-49B3-9DAD-AF5052A20FFE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222F9-E1E1-4B7E-AEC9-7232D7D2F6C6}">
      <dsp:nvSpPr>
        <dsp:cNvPr id="0" name=""/>
        <dsp:cNvSpPr/>
      </dsp:nvSpPr>
      <dsp:spPr>
        <a:xfrm>
          <a:off x="0" y="0"/>
          <a:ext cx="8229600" cy="861120"/>
        </a:xfrm>
        <a:prstGeom prst="round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baseline="0" dirty="0">
              <a:solidFill>
                <a:schemeClr val="tx1"/>
              </a:solidFill>
              <a:latin typeface="Bookman Old Style" pitchFamily="18" charset="0"/>
            </a:rPr>
            <a:t>Outline</a:t>
          </a:r>
          <a:endParaRPr lang="en-IN" sz="2800" b="1" kern="1200" baseline="0" dirty="0">
            <a:solidFill>
              <a:schemeClr val="tx1"/>
            </a:solidFill>
            <a:latin typeface="Bookman Old Style" pitchFamily="18" charset="0"/>
          </a:endParaRPr>
        </a:p>
      </dsp:txBody>
      <dsp:txXfrm>
        <a:off x="42036" y="42036"/>
        <a:ext cx="8145528" cy="777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73CB3-664F-4474-81B3-92D97B6E2F23}">
      <dsp:nvSpPr>
        <dsp:cNvPr id="0" name=""/>
        <dsp:cNvSpPr/>
      </dsp:nvSpPr>
      <dsp:spPr>
        <a:xfrm>
          <a:off x="0" y="488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Abstract</a:t>
          </a:r>
        </a:p>
      </dsp:txBody>
      <dsp:txXfrm>
        <a:off x="23760" y="72600"/>
        <a:ext cx="8182080" cy="439200"/>
      </dsp:txXfrm>
    </dsp:sp>
    <dsp:sp modelId="{0C292BC2-ADFF-490F-A1D6-7FDA3C25D23C}">
      <dsp:nvSpPr>
        <dsp:cNvPr id="0" name=""/>
        <dsp:cNvSpPr/>
      </dsp:nvSpPr>
      <dsp:spPr>
        <a:xfrm>
          <a:off x="0" y="60960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1075496"/>
                <a:satOff val="360"/>
                <a:lumOff val="-1569"/>
                <a:alphaOff val="0"/>
                <a:tint val="50000"/>
                <a:satMod val="300000"/>
              </a:schemeClr>
            </a:gs>
            <a:gs pos="35000">
              <a:schemeClr val="accent3">
                <a:hueOff val="-1075496"/>
                <a:satOff val="360"/>
                <a:lumOff val="-1569"/>
                <a:alphaOff val="0"/>
                <a:tint val="37000"/>
                <a:satMod val="300000"/>
              </a:schemeClr>
            </a:gs>
            <a:gs pos="100000">
              <a:schemeClr val="accent3">
                <a:hueOff val="-1075496"/>
                <a:satOff val="360"/>
                <a:lumOff val="-156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 of </a:t>
          </a:r>
        </a:p>
      </dsp:txBody>
      <dsp:txXfrm>
        <a:off x="23760" y="633360"/>
        <a:ext cx="8182080" cy="439200"/>
      </dsp:txXfrm>
    </dsp:sp>
    <dsp:sp modelId="{095A8D5B-507B-49DD-9F50-21D5783DA766}">
      <dsp:nvSpPr>
        <dsp:cNvPr id="0" name=""/>
        <dsp:cNvSpPr/>
      </dsp:nvSpPr>
      <dsp:spPr>
        <a:xfrm>
          <a:off x="0" y="11720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2150992"/>
                <a:satOff val="720"/>
                <a:lumOff val="-3137"/>
                <a:alphaOff val="0"/>
                <a:tint val="50000"/>
                <a:satMod val="300000"/>
              </a:schemeClr>
            </a:gs>
            <a:gs pos="35000">
              <a:schemeClr val="accent3">
                <a:hueOff val="-2150992"/>
                <a:satOff val="720"/>
                <a:lumOff val="-3137"/>
                <a:alphaOff val="0"/>
                <a:tint val="37000"/>
                <a:satMod val="300000"/>
              </a:schemeClr>
            </a:gs>
            <a:gs pos="100000">
              <a:schemeClr val="accent3">
                <a:hueOff val="-2150992"/>
                <a:satOff val="720"/>
                <a:lumOff val="-313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1195800"/>
        <a:ext cx="8182080" cy="439200"/>
      </dsp:txXfrm>
    </dsp:sp>
    <dsp:sp modelId="{D59183E6-5BCE-4FD7-904C-1F49A18FA90A}">
      <dsp:nvSpPr>
        <dsp:cNvPr id="0" name=""/>
        <dsp:cNvSpPr/>
      </dsp:nvSpPr>
      <dsp:spPr>
        <a:xfrm>
          <a:off x="0" y="17336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3226488"/>
                <a:satOff val="1079"/>
                <a:lumOff val="-4706"/>
                <a:alphaOff val="0"/>
                <a:tint val="50000"/>
                <a:satMod val="300000"/>
              </a:schemeClr>
            </a:gs>
            <a:gs pos="35000">
              <a:schemeClr val="accent3">
                <a:hueOff val="-3226488"/>
                <a:satOff val="1079"/>
                <a:lumOff val="-4706"/>
                <a:alphaOff val="0"/>
                <a:tint val="37000"/>
                <a:satMod val="300000"/>
              </a:schemeClr>
            </a:gs>
            <a:gs pos="100000">
              <a:schemeClr val="accent3">
                <a:hueOff val="-3226488"/>
                <a:satOff val="1079"/>
                <a:lumOff val="-470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sp:txBody>
      <dsp:txXfrm>
        <a:off x="23760" y="1757400"/>
        <a:ext cx="8182080" cy="439200"/>
      </dsp:txXfrm>
    </dsp:sp>
    <dsp:sp modelId="{A38FE33E-AAC5-4E0B-8577-5ECAA37FA220}">
      <dsp:nvSpPr>
        <dsp:cNvPr id="0" name=""/>
        <dsp:cNvSpPr/>
      </dsp:nvSpPr>
      <dsp:spPr>
        <a:xfrm>
          <a:off x="0" y="22952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4301983"/>
                <a:satOff val="1439"/>
                <a:lumOff val="-6275"/>
                <a:alphaOff val="0"/>
                <a:tint val="50000"/>
                <a:satMod val="300000"/>
              </a:schemeClr>
            </a:gs>
            <a:gs pos="35000">
              <a:schemeClr val="accent3">
                <a:hueOff val="-4301983"/>
                <a:satOff val="1439"/>
                <a:lumOff val="-6275"/>
                <a:alphaOff val="0"/>
                <a:tint val="37000"/>
                <a:satMod val="300000"/>
              </a:schemeClr>
            </a:gs>
            <a:gs pos="100000">
              <a:schemeClr val="accent3">
                <a:hueOff val="-4301983"/>
                <a:satOff val="1439"/>
                <a:lumOff val="-627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2318999"/>
        <a:ext cx="8182080" cy="439200"/>
      </dsp:txXfrm>
    </dsp:sp>
    <dsp:sp modelId="{A96DAACA-F17E-47F0-B672-F8211FEB47AC}">
      <dsp:nvSpPr>
        <dsp:cNvPr id="0" name=""/>
        <dsp:cNvSpPr/>
      </dsp:nvSpPr>
      <dsp:spPr>
        <a:xfrm>
          <a:off x="0" y="28568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5377479"/>
                <a:satOff val="1799"/>
                <a:lumOff val="-7843"/>
                <a:alphaOff val="0"/>
                <a:tint val="50000"/>
                <a:satMod val="300000"/>
              </a:schemeClr>
            </a:gs>
            <a:gs pos="35000">
              <a:schemeClr val="accent3">
                <a:hueOff val="-5377479"/>
                <a:satOff val="1799"/>
                <a:lumOff val="-7843"/>
                <a:alphaOff val="0"/>
                <a:tint val="37000"/>
                <a:satMod val="300000"/>
              </a:schemeClr>
            </a:gs>
            <a:gs pos="100000">
              <a:schemeClr val="accent3">
                <a:hueOff val="-5377479"/>
                <a:satOff val="1799"/>
                <a:lumOff val="-784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2880599"/>
        <a:ext cx="8182080" cy="439200"/>
      </dsp:txXfrm>
    </dsp:sp>
    <dsp:sp modelId="{6885AA65-2AA3-46B5-A084-7E7DD856A146}">
      <dsp:nvSpPr>
        <dsp:cNvPr id="0" name=""/>
        <dsp:cNvSpPr/>
      </dsp:nvSpPr>
      <dsp:spPr>
        <a:xfrm>
          <a:off x="0" y="34184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6452975"/>
                <a:satOff val="2159"/>
                <a:lumOff val="-9412"/>
                <a:alphaOff val="0"/>
                <a:tint val="50000"/>
                <a:satMod val="300000"/>
              </a:schemeClr>
            </a:gs>
            <a:gs pos="35000">
              <a:schemeClr val="accent3">
                <a:hueOff val="-6452975"/>
                <a:satOff val="2159"/>
                <a:lumOff val="-9412"/>
                <a:alphaOff val="0"/>
                <a:tint val="37000"/>
                <a:satMod val="300000"/>
              </a:schemeClr>
            </a:gs>
            <a:gs pos="100000">
              <a:schemeClr val="accent3">
                <a:hueOff val="-6452975"/>
                <a:satOff val="2159"/>
                <a:lumOff val="-941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3442199"/>
        <a:ext cx="8182080" cy="439200"/>
      </dsp:txXfrm>
    </dsp:sp>
    <dsp:sp modelId="{FA3189F3-6CE2-4CA8-9D73-CCF3A091FC32}">
      <dsp:nvSpPr>
        <dsp:cNvPr id="0" name=""/>
        <dsp:cNvSpPr/>
      </dsp:nvSpPr>
      <dsp:spPr>
        <a:xfrm>
          <a:off x="0" y="39800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7528471"/>
                <a:satOff val="2518"/>
                <a:lumOff val="-10981"/>
                <a:alphaOff val="0"/>
                <a:tint val="50000"/>
                <a:satMod val="300000"/>
              </a:schemeClr>
            </a:gs>
            <a:gs pos="35000">
              <a:schemeClr val="accent3">
                <a:hueOff val="-7528471"/>
                <a:satOff val="2518"/>
                <a:lumOff val="-10981"/>
                <a:alphaOff val="0"/>
                <a:tint val="37000"/>
                <a:satMod val="300000"/>
              </a:schemeClr>
            </a:gs>
            <a:gs pos="100000">
              <a:schemeClr val="accent3">
                <a:hueOff val="-7528471"/>
                <a:satOff val="2518"/>
                <a:lumOff val="-1098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Proposed Methodology 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4003799"/>
        <a:ext cx="8182080" cy="439200"/>
      </dsp:txXfrm>
    </dsp:sp>
    <dsp:sp modelId="{ACD9FB09-745B-43A9-A14D-18BE8D6CE92F}">
      <dsp:nvSpPr>
        <dsp:cNvPr id="0" name=""/>
        <dsp:cNvSpPr/>
      </dsp:nvSpPr>
      <dsp:spPr>
        <a:xfrm>
          <a:off x="0" y="4541639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8603967"/>
                <a:satOff val="2878"/>
                <a:lumOff val="-12549"/>
                <a:alphaOff val="0"/>
                <a:tint val="50000"/>
                <a:satMod val="300000"/>
              </a:schemeClr>
            </a:gs>
            <a:gs pos="35000">
              <a:schemeClr val="accent3">
                <a:hueOff val="-8603967"/>
                <a:satOff val="2878"/>
                <a:lumOff val="-12549"/>
                <a:alphaOff val="0"/>
                <a:tint val="37000"/>
                <a:satMod val="300000"/>
              </a:schemeClr>
            </a:gs>
            <a:gs pos="100000">
              <a:schemeClr val="accent3">
                <a:hueOff val="-8603967"/>
                <a:satOff val="2878"/>
                <a:lumOff val="-125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strike="noStrike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Result and Discussion on Outcome (Conference Paper/ Patent/ Copyrights)</a:t>
          </a:r>
        </a:p>
      </dsp:txBody>
      <dsp:txXfrm>
        <a:off x="23760" y="4565399"/>
        <a:ext cx="8182080" cy="439200"/>
      </dsp:txXfrm>
    </dsp:sp>
    <dsp:sp modelId="{1B872D9D-FE3C-49B3-9DAD-AF5052A20FFE}">
      <dsp:nvSpPr>
        <dsp:cNvPr id="0" name=""/>
        <dsp:cNvSpPr/>
      </dsp:nvSpPr>
      <dsp:spPr>
        <a:xfrm>
          <a:off x="0" y="5103240"/>
          <a:ext cx="8229600" cy="486720"/>
        </a:xfrm>
        <a:prstGeom prst="roundRect">
          <a:avLst/>
        </a:prstGeom>
        <a:gradFill rotWithShape="0">
          <a:gsLst>
            <a:gs pos="0">
              <a:schemeClr val="accent3">
                <a:hueOff val="-9679462"/>
                <a:satOff val="3238"/>
                <a:lumOff val="-14118"/>
                <a:alphaOff val="0"/>
                <a:tint val="50000"/>
                <a:satMod val="300000"/>
              </a:schemeClr>
            </a:gs>
            <a:gs pos="35000">
              <a:schemeClr val="accent3">
                <a:hueOff val="-9679462"/>
                <a:satOff val="3238"/>
                <a:lumOff val="-14118"/>
                <a:alphaOff val="0"/>
                <a:tint val="37000"/>
                <a:satMod val="300000"/>
              </a:schemeClr>
            </a:gs>
            <a:gs pos="100000">
              <a:schemeClr val="accent3">
                <a:hueOff val="-9679462"/>
                <a:satOff val="3238"/>
                <a:lumOff val="-1411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Bookman Old Style" panose="02050604050505020204" pitchFamily="18" charset="0"/>
            </a:rPr>
            <a:t>References</a:t>
          </a:r>
          <a:endParaRPr lang="en-IN" sz="1600" b="0" strike="noStrike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760" y="5127000"/>
        <a:ext cx="8182080" cy="43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592F5-36E2-49C4-AC5A-04F2CF94D6D4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82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2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9CA17-6F94-48C9-A51D-7CB0D00B15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7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03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0ED25A-8417-4FAA-8603-F6EFFE7FCD8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08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04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8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7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9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8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7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77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58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70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9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79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0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8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1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8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7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59881-54BE-46AD-B095-242DAEA9C01C}" type="datetimeFigureOut">
              <a:rPr lang="en-US" smtClean="0"/>
              <a:pPr/>
              <a:t>10/5/26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3D9D9-2323-4B14-959B-DD5C508B8A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Manipal University Jaipur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Department of Data Science and Engineering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-10886" y="2821909"/>
            <a:ext cx="9144000" cy="1034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ookman Old Style" pitchFamily="18" charset="0"/>
              </a:rPr>
              <a:t>DSE3170 Project Based Learning-3 Presentation</a:t>
            </a:r>
          </a:p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Bookman Old Style" pitchFamily="18" charset="0"/>
              </a:rPr>
              <a:t>On</a:t>
            </a:r>
          </a:p>
          <a:p>
            <a:pPr marL="447675" indent="-447675" algn="ctr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dirty="0">
                <a:latin typeface="Bookman Old Style" pitchFamily="18" charset="0"/>
              </a:rPr>
              <a:t> </a:t>
            </a:r>
            <a:endParaRPr lang="en-US" sz="3200" dirty="0">
              <a:latin typeface="Bookman Old Style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0886" y="36368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1900" b="1" dirty="0">
                <a:solidFill>
                  <a:srgbClr val="3B3B3B"/>
                </a:solidFill>
                <a:latin typeface="Bookman Old Style"/>
              </a:rPr>
              <a:t>Deep Reinforcement Learning for Multi-Node Smart-Grid Power Balancing</a:t>
            </a:r>
          </a:p>
        </p:txBody>
      </p:sp>
      <p:sp>
        <p:nvSpPr>
          <p:cNvPr id="30722" name="AutoShape 2" descr="Image result for soit rgpv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4" name="AutoShape 4" descr="Image result for soit rgpv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526A3A-00DA-DCF0-32C3-5C2F4C3AC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16485"/>
              </p:ext>
            </p:extLst>
          </p:nvPr>
        </p:nvGraphicFramePr>
        <p:xfrm>
          <a:off x="307975" y="4846320"/>
          <a:ext cx="8607425" cy="138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5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3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8057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Presented by</a:t>
                      </a:r>
                      <a:r>
                        <a:rPr lang="en-US"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 :</a:t>
                      </a:r>
                    </a:p>
                    <a:p>
                      <a:pPr marL="342900" indent="-342900" algn="l">
                        <a:spcAft>
                          <a:spcPts val="200"/>
                        </a:spcAft>
                        <a:buAutoNum type="arabicPeriod"/>
                      </a:pPr>
                      <a:r>
                        <a:rPr lang="en-US"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Garv </a:t>
                      </a:r>
                      <a:r>
                        <a:rPr lang="en-US" sz="1300" b="1" dirty="0" err="1">
                          <a:solidFill>
                            <a:srgbClr val="3B3B3B"/>
                          </a:solidFill>
                          <a:latin typeface="Gill Sans MT"/>
                        </a:rPr>
                        <a:t>Singodia</a:t>
                      </a:r>
                      <a:r>
                        <a:rPr lang="en-US"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 (2430010240)</a:t>
                      </a:r>
                    </a:p>
                    <a:p>
                      <a:pPr marL="342900" indent="-342900" algn="l">
                        <a:spcAft>
                          <a:spcPts val="200"/>
                        </a:spcAft>
                        <a:buAutoNum type="arabicPeriod"/>
                      </a:pPr>
                      <a:r>
                        <a:rPr lang="en-US"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Krish Jariwala (2430010238)</a:t>
                      </a:r>
                    </a:p>
                    <a:p>
                      <a:pPr marL="342900" indent="-342900" algn="l">
                        <a:spcAft>
                          <a:spcPts val="200"/>
                        </a:spcAft>
                        <a:buAutoNum type="arabicPeriod"/>
                      </a:pPr>
                      <a:r>
                        <a:rPr lang="en-US"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Samarth Mujumdar (2430010236)</a:t>
                      </a:r>
                    </a:p>
                    <a:p>
                      <a:pPr marL="342900" indent="-342900" algn="l">
                        <a:spcAft>
                          <a:spcPts val="200"/>
                        </a:spcAft>
                        <a:buAutoNum type="arabicPeriod"/>
                      </a:pPr>
                      <a:r>
                        <a:rPr lang="en-US"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Vatsal Bharati (2430010237)</a:t>
                      </a:r>
                      <a:endParaRPr sz="1300" b="1" dirty="0">
                        <a:solidFill>
                          <a:srgbClr val="3B3B3B"/>
                        </a:solidFill>
                        <a:latin typeface="Gill Sans 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800" b="0" i="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Under the Guidance o</a:t>
                      </a:r>
                      <a:r>
                        <a:rPr lang="en-US" sz="1300" b="1" dirty="0">
                          <a:solidFill>
                            <a:srgbClr val="3B3B3B"/>
                          </a:solidFill>
                          <a:latin typeface="Gill Sans MT"/>
                        </a:rPr>
                        <a:t>f :</a:t>
                      </a:r>
                    </a:p>
                    <a:p>
                      <a:pPr algn="r">
                        <a:spcAft>
                          <a:spcPts val="200"/>
                        </a:spcAft>
                      </a:pPr>
                      <a:r>
                        <a:rPr lang="en-US" sz="1300" b="1" u="sng" dirty="0">
                          <a:solidFill>
                            <a:srgbClr val="3B3B3B"/>
                          </a:solidFill>
                          <a:latin typeface="Gill Sans MT"/>
                        </a:rPr>
                        <a:t>Dr Aprna Tripathi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814AFFA-6FB5-C0B9-7906-293F469DFB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18" y="1426826"/>
            <a:ext cx="1223963" cy="12239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6C62C-60CE-4889-8CA7-1827D66F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F4291-B061-48D0-859A-7E7E99C32DEE}" type="datetime1">
              <a:rPr lang="en-US" b="1" smtClean="0"/>
              <a:t>10/5/26</a:t>
            </a:fld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EE340-DD05-ABF3-E2C1-1FCA7E60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3D9D9-2323-4B14-959B-DD5C508B8A7B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32641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Diagram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7367672"/>
              </p:ext>
            </p:extLst>
          </p:nvPr>
        </p:nvGraphicFramePr>
        <p:xfrm>
          <a:off x="446314" y="122238"/>
          <a:ext cx="8229600" cy="868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194306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866723"/>
              </p:ext>
            </p:extLst>
          </p:nvPr>
        </p:nvGraphicFramePr>
        <p:xfrm>
          <a:off x="457200" y="990600"/>
          <a:ext cx="82296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8120" y="63550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  <a:latin typeface="Gill Sans MT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5875">
            <a:solidFill>
              <a:srgbClr val="6E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600" b="1">
                <a:solidFill>
                  <a:srgbClr val="6EA0B0"/>
                </a:solidFill>
                <a:latin typeface="Bookman Old Style"/>
              </a:rPr>
              <a:t>+21.2 %</a:t>
            </a:r>
          </a:p>
          <a:p>
            <a:pPr algn="ctr"/>
            <a:r>
              <a:rPr sz="1150">
                <a:solidFill>
                  <a:srgbClr val="3B3B3B"/>
                </a:solidFill>
                <a:latin typeface="Gill Sans MT"/>
              </a:rPr>
              <a:t>LSTM forecast skill
vs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82696" y="1234440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5875">
            <a:solidFill>
              <a:srgbClr val="CCA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600" b="1">
                <a:solidFill>
                  <a:srgbClr val="CCAF0A"/>
                </a:solidFill>
                <a:latin typeface="Bookman Old Style"/>
              </a:rPr>
              <a:t>23.52 %</a:t>
            </a:r>
          </a:p>
          <a:p>
            <a:pPr algn="ctr"/>
            <a:r>
              <a:rPr sz="1150">
                <a:solidFill>
                  <a:srgbClr val="3B3B3B"/>
                </a:solidFill>
                <a:latin typeface="Gill Sans MT"/>
              </a:rPr>
              <a:t>imbalance cut by the
centralized DQN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2472" y="1234440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5875">
            <a:solidFill>
              <a:srgbClr val="8D8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600" b="1">
                <a:solidFill>
                  <a:srgbClr val="8D89A4"/>
                </a:solidFill>
                <a:latin typeface="Bookman Old Style"/>
              </a:rPr>
              <a:t>−14.93 %</a:t>
            </a:r>
          </a:p>
          <a:p>
            <a:pPr algn="ctr"/>
            <a:r>
              <a:rPr sz="1150">
                <a:solidFill>
                  <a:srgbClr val="3B3B3B"/>
                </a:solidFill>
                <a:latin typeface="Gill Sans MT"/>
              </a:rPr>
              <a:t>decentralized PPO
(worse than no control)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81381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Three-node grid (city / suburb / industrial) simulated hourly with weather regimes and rare events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Two control paradigms compared on one simulator and one evaluation harness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Every result reported against trivial baselines and an attainable upper bound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Negative decentralized result diagnosed and reported as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9788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6EA0B0"/>
                </a:solidFill>
                <a:latin typeface="Gill Sans MT"/>
              </a:rPr>
              <a:t>Centralized control recovers 96 % of the achievable control; decentralized control does 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8120" y="63550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  <a:latin typeface="Gill Sans MT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138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Solar and wind make every substation a source as well as a sink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Net imbalance swings from surplus to deficit several times a day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Unresolved imbalance → curtailment, shedding or reserve generation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Routing is the cheapest remedy — but it is a sequential decision</a:t>
            </a:r>
          </a:p>
        </p:txBody>
      </p:sp>
      <p:pic>
        <p:nvPicPr>
          <p:cNvPr id="6" name="Picture 5" descr="fig_grid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999" y="2944368"/>
            <a:ext cx="3804001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8120" y="63550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  <a:latin typeface="Gill Sans MT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8138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Gill Sans MT"/>
                        </a:rPr>
                        <a:t>Strand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Gill Sans MT"/>
                        </a:rPr>
                        <a:t>What it contributes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Gill Sans MT"/>
                        </a:rPr>
                        <a:t>Used here as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Short-term load / net-load forecasting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LSTM is the standard neural baseline for autocorrelated, daily-periodic signals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Supervised pre-training stage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RL for economic dispatch &amp; voltage control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Grid as an MDP; DQN for discrete actions, PPO for continuous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Both control paradigms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Multi-agent RL for distributed energy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Each substation as an independent agent; PettingZoo API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Decentralized environment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Self-attention for sequences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Weights hours by relevance, not recency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Transformer-DQN encoder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Transfer learning via frozen encoders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Injects supervised knowledge into an RL 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B3B3B"/>
                          </a:solidFill>
                          <a:latin typeface="Gill Sans MT"/>
                        </a:rPr>
                        <a:t>TransferAgent variant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7607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6EA0B0"/>
                </a:solidFill>
                <a:latin typeface="Gill Sans MT"/>
              </a:rPr>
              <a:t>No novel algorithm is claimed — the contribution is a controlled, baselined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8120" y="63550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  <a:latin typeface="Gill Sans MT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dirty="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1381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900">
                <a:solidFill>
                  <a:srgbClr val="3B3B3B"/>
                </a:solidFill>
                <a:latin typeface="Gill Sans MT"/>
              </a:rPr>
              <a:t>▪  Percentage improvements reported without an attainable upper bound — uninterpretable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900">
                <a:solidFill>
                  <a:srgbClr val="3B3B3B"/>
                </a:solidFill>
                <a:latin typeface="Gill Sans MT"/>
              </a:rPr>
              <a:t>▪  Trivial baselines omitted, although “do nothing” is a legal action that dominates the labels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900">
                <a:solidFill>
                  <a:srgbClr val="3B3B3B"/>
                </a:solidFill>
                <a:latin typeface="Gill Sans MT"/>
              </a:rPr>
              <a:t>▪  Centralized and decentralized controllers evaluated in separate studies on different simulators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1900">
                <a:solidFill>
                  <a:srgbClr val="3B3B3B"/>
                </a:solidFill>
                <a:latin typeface="Gill Sans MT"/>
              </a:rPr>
              <a:t>▪  Negative results in multi-agent grid control are under-reported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_paradigm_comparison.png">
            <a:extLst>
              <a:ext uri="{FF2B5EF4-FFF2-40B4-BE49-F238E27FC236}">
                <a16:creationId xmlns:a16="http://schemas.microsoft.com/office/drawing/2014/main" id="{9F3F12EA-E1C3-6B2D-1982-74CBF493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31" y="1219200"/>
            <a:ext cx="8521628" cy="41938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BB7847-C003-2A9C-B9FE-6BD6D898C2F2}"/>
              </a:ext>
            </a:extLst>
          </p:cNvPr>
          <p:cNvSpPr txBox="1"/>
          <p:nvPr/>
        </p:nvSpPr>
        <p:spPr>
          <a:xfrm>
            <a:off x="214571" y="228600"/>
            <a:ext cx="883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6EA0B0"/>
                </a:solidFill>
                <a:latin typeface="Gill Sans MT"/>
              </a:rPr>
              <a:t>This project reports every controller </a:t>
            </a:r>
            <a:r>
              <a:rPr lang="en-US" sz="2000" b="1" dirty="0">
                <a:solidFill>
                  <a:srgbClr val="6EA0B0"/>
                </a:solidFill>
                <a:latin typeface="Gill Sans MT"/>
              </a:rPr>
              <a:t>against</a:t>
            </a:r>
            <a:r>
              <a:rPr lang="en-US" sz="1800" b="1" dirty="0">
                <a:solidFill>
                  <a:srgbClr val="6EA0B0"/>
                </a:solidFill>
                <a:latin typeface="Gill Sans MT"/>
              </a:rPr>
              <a:t> both a trivial baseline and a ceiling.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65FE1-A7CE-2FE8-6CDD-940762E4BD8D}"/>
              </a:ext>
            </a:extLst>
          </p:cNvPr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dirty="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510AD3-F70B-F491-5603-08B51F531293}"/>
              </a:ext>
            </a:extLst>
          </p:cNvPr>
          <p:cNvSpPr txBox="1"/>
          <p:nvPr/>
        </p:nvSpPr>
        <p:spPr>
          <a:xfrm>
            <a:off x="8575173" y="6355080"/>
            <a:ext cx="2487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E6E6E"/>
                </a:solidFill>
                <a:latin typeface="Gill Sans MT"/>
              </a:rPr>
              <a:t>7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612047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5173" y="6355080"/>
            <a:ext cx="2487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E6E6E"/>
                </a:solidFill>
                <a:latin typeface="Gill Sans MT"/>
              </a:rPr>
              <a:t>8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8138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2000">
                <a:solidFill>
                  <a:srgbClr val="3B3B3B"/>
                </a:solidFill>
                <a:latin typeface="Gill Sans MT"/>
              </a:rPr>
              <a:t>▪  Given: hourly load and generation at three grid nodes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2000">
                <a:solidFill>
                  <a:srgbClr val="3B3B3B"/>
                </a:solidFill>
                <a:latin typeface="Gill Sans MT"/>
              </a:rPr>
              <a:t>▪  Decide: how much power to route on each line, every hour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2000">
                <a:solidFill>
                  <a:srgbClr val="3B3B3B"/>
                </a:solidFill>
                <a:latin typeface="Gill Sans MT"/>
              </a:rPr>
              <a:t>▪  Minimise: total absolute net imbalance  | A | + | B | + | C |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2000">
                <a:solidFill>
                  <a:srgbClr val="3B3B3B"/>
                </a:solidFill>
                <a:latin typeface="Gill Sans MT"/>
              </a:rPr>
              <a:t>▪  Subject to: line capacity and the cost of the transfers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2000"/>
              </a:spcAft>
            </a:pPr>
            <a:r>
              <a:rPr sz="2000">
                <a:solidFill>
                  <a:srgbClr val="3B3B3B"/>
                </a:solidFill>
                <a:latin typeface="Gill Sans MT"/>
              </a:rPr>
              <a:t>▪  Under two information structures: full vs. local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8348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EA0B0"/>
                </a:solidFill>
                <a:latin typeface="Gill Sans MT"/>
              </a:rPr>
              <a:t>The same task, solved twice — once by a controller that sees everything,
once by three that do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5173" y="6355080"/>
            <a:ext cx="2487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E6E6E"/>
                </a:solidFill>
                <a:latin typeface="Gill Sans MT"/>
              </a:rPr>
              <a:t>9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3977639" cy="402336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977639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Every MWh of unresolved imbalance costs curtailment, shedding or reserve generation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Routing is the cheapest of the three remedies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Decisions scale badly as controllable nodes multiply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280160"/>
            <a:ext cx="3977639" cy="402336"/>
          </a:xfrm>
          <a:prstGeom prst="rect">
            <a:avLst/>
          </a:prstGeom>
          <a:solidFill>
            <a:srgbClr val="8D8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Academic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3977639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Decentralized control is advocated for scalability and fault tolerance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The information each agent gives up is rarely quantified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One simulator + one harness + the same unseen hours makes that cost measurable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E6E6E"/>
                </a:solidFill>
                <a:latin typeface="Gill Sans MT"/>
              </a:rPr>
              <a:t>10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1381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Build a seeded, physically motivated three-node grid simulator and validate it statistically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Enforce a data audit, imputation and physical-clipping stage on every dataset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Pre-train an LSTM imbalance forecaster and measure its skill against persistence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Train a Transformer-DQN on a discrete routing action space (centralized)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Test transfer learning by freezing the forecaster's feature layer as the state encoder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Train three PPO substation agents with continuous delta-control (decentralized)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Evaluate every controller on identical unseen hours against explicit baselines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Report the paradigm comparison honestly, including unfavourable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Proposed Methodology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Seven stages, executed top-to-bottom from a single 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1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pic>
        <p:nvPicPr>
          <p:cNvPr id="5" name="Picture 4" descr="fig_methodology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7800"/>
            <a:ext cx="8321040" cy="23079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145280"/>
            <a:ext cx="8138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dirty="0">
                <a:solidFill>
                  <a:srgbClr val="3B3B3B"/>
                </a:solidFill>
                <a:latin typeface="Gill Sans MT"/>
              </a:rPr>
              <a:t>▪  Every dataset passes through </a:t>
            </a:r>
            <a:r>
              <a:rPr sz="1600" dirty="0" err="1">
                <a:solidFill>
                  <a:srgbClr val="3B3B3B"/>
                </a:solidFill>
                <a:latin typeface="Gill Sans MT"/>
              </a:rPr>
              <a:t>build_dataset</a:t>
            </a:r>
            <a:r>
              <a:rPr sz="1600" dirty="0">
                <a:solidFill>
                  <a:srgbClr val="3B3B3B"/>
                </a:solidFill>
                <a:latin typeface="Gill Sans MT"/>
              </a:rPr>
              <a:t>() = generate → clean → audit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dirty="0">
                <a:solidFill>
                  <a:srgbClr val="3B3B3B"/>
                </a:solidFill>
                <a:latin typeface="Gill Sans MT"/>
              </a:rPr>
              <a:t>▪  Separate seeds for EDA (30 d), pre-training (60 d), training (45 d) and test (11–12 d)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dirty="0">
                <a:solidFill>
                  <a:srgbClr val="3B3B3B"/>
                </a:solidFill>
                <a:latin typeface="Gill Sans MT"/>
              </a:rPr>
              <a:t>▪  All randomness derives from SEED = 42, so results are reproducible in any execution order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2629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2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96289-DDAF-7442-E547-01D3F038B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017270"/>
            <a:ext cx="7721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Grid Simulator and Dataset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No external dataset — data is generated, audited and cleaned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3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977639" cy="402336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What the simulator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77639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Diurnal cycles with node-specific phase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3-state Markov weather chain (normal / heatwave / storm)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AR(1) momentum noise (0.85), not white noise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Rare events: solar outage, demand spike, brown-out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188720"/>
            <a:ext cx="3977639" cy="402336"/>
          </a:xfrm>
          <a:prstGeom prst="rect">
            <a:avLst/>
          </a:prstGeom>
          <a:solidFill>
            <a:srgbClr val="8D8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What the audit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977639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0 missing, 0 infinite, 0 duplicate rows in every dataset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0 negative generation or load after clipping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Rare events verified to fire (e.g. 36 solar-outage hours in 30 days)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Mean total | imbalance | = 75.61 MW — the quantity to minimise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Characterising the Signal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Statistical tests that justify the 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4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8138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Test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Design consequence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One-sample t-test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A −18.35, B −9.73, C −15.31 MW;  all p ≪ 0.001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Structural deficit — not noise about zero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Pearson correlation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A–B  r = −0.294;  B–C  r = +0.452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A and B complementary → routing has headroom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Autocorrelation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lag-1 = +0.949,  lag-24 = +0.872  (node A)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6-hour window + explicit hour-of-day feature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Levene test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Variance differs by weather regime, p ≪ 0.001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3B3B3B"/>
                          </a:solidFill>
                          <a:latin typeface="Gill Sans MT"/>
                        </a:rPr>
                        <a:t>Genuinely heteroscedastic — regimes matter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0749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6EA0B0"/>
                </a:solidFill>
                <a:latin typeface="Gill Sans MT"/>
              </a:rPr>
              <a:t>Statistics come first: the 6-hour lookback is a measured choice, not an assumption.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Centralized Controller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FastEnv  +  Transformer-DQN  /  TransferAgent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5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977639" cy="402336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Environment — FastEnv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77639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State: 6 h × 3 nodes of normalised net imbalance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Actions: 7 discrete — Hold + six 20 MW directed transfers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Reward: differential — MW of grid stress the action removed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Ranks actions exactly as a greedy oracle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188720"/>
            <a:ext cx="3977639" cy="402336"/>
          </a:xfrm>
          <a:prstGeom prst="rect">
            <a:avLst/>
          </a:prstGeom>
          <a:solidFill>
            <a:srgbClr val="8D8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977639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Transformer-DQN: Dense(32) → learned positional embedding → 4-head attention → 7 Q-values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Replay 2000, batch 64, γ 0.95, ε 1.0 → 0.01 per episode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TransferAgent: same DQN over the frozen forecaster encoder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60 episodes × 100 steps for both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Decentralized Controller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PettingZooGridEnv  +  three PPO substation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6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977639" cy="402336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77639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Each node owns one directed line (A→B, B→C, C→A), 25 MW capacity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Action: continuous delta of ±5 MW/h on its own shunt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Observation: own imbalance, hour, two broadcast neighbours, own line loading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Reward: strictly local — own imbalance + own line penalty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188720"/>
            <a:ext cx="3977639" cy="402336"/>
          </a:xfrm>
          <a:prstGeom prst="rect">
            <a:avLst/>
          </a:prstGeom>
          <a:solidFill>
            <a:srgbClr val="8D8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PPO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977639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Actor-critic with 2-head attention over the local window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γ 0.94, λ 0.95, clip 0.2, 4 epochs per rollout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Adam 5×10⁻⁵, gradient-norm clip 0.5, entropy bonus 0.01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3B3B3B"/>
                </a:solidFill>
                <a:latin typeface="Gill Sans MT"/>
              </a:rPr>
              <a:t>▪  400 episodes; transmission penalty annealed 0 → 0.05 over episodes 50–250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Evaluation Design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240 unseen hours — identical window for every policy in a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7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977639" cy="402336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Centralized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77639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Greedy oracle — the attainable ceiling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Always-Hold — 0.00 % by construction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Uniform random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Metrics: accuracy, macro F1, Cohen's κ, imbalance reduction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188720"/>
            <a:ext cx="3977639" cy="402336"/>
          </a:xfrm>
          <a:prstGeom prst="rect">
            <a:avLst/>
          </a:prstGeom>
          <a:solidFill>
            <a:srgbClr val="8D8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Decentralized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977639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Rule-based proportional controller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No control — must return exactly 0.00 %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Metrics: imbalance reduction, transmission cost, worst-node peak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Evaluation is always greedy — no exploration leaks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6EA0B0"/>
                </a:solidFill>
                <a:latin typeface="Gill Sans MT"/>
              </a:rPr>
              <a:t>The no-control sanity check proves the “managed” figure measures the actions and nothing else.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Result 1 — Supervised Forecaster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8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813815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ill Sans MT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ill Sans MT"/>
                        </a:rPr>
                        <a:t>MAE (MW)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ill Sans MT"/>
                        </a:rPr>
                        <a:t>RMSE (MW)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ill Sans MT"/>
                        </a:rPr>
                        <a:t>R²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B3B3B"/>
                          </a:solidFill>
                          <a:latin typeface="Gill Sans MT"/>
                        </a:rPr>
                        <a:t>LSTM forecaster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B3B3B"/>
                          </a:solidFill>
                          <a:latin typeface="Gill Sans MT"/>
                        </a:rPr>
                        <a:t>4.995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B3B3B"/>
                          </a:solidFill>
                          <a:latin typeface="Gill Sans MT"/>
                        </a:rPr>
                        <a:t>7.54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B3B3B"/>
                          </a:solidFill>
                          <a:latin typeface="Gill Sans MT"/>
                        </a:rPr>
                        <a:t>0.911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B3B3B"/>
                          </a:solidFill>
                          <a:latin typeface="Gill Sans MT"/>
                        </a:rPr>
                        <a:t>Persistence baseline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B3B3B"/>
                          </a:solidFill>
                          <a:latin typeface="Gill Sans MT"/>
                        </a:rPr>
                        <a:t>6.850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B3B3B"/>
                          </a:solidFill>
                          <a:latin typeface="Gill Sans MT"/>
                        </a:rPr>
                        <a:t>9.57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B3B3B"/>
                          </a:solidFill>
                          <a:latin typeface="Gill Sans MT"/>
                        </a:rPr>
                        <a:t>0.856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74320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6EA0B0"/>
                </a:solidFill>
                <a:latin typeface="Gill Sans MT"/>
              </a:rPr>
              <a:t>+21.2 % RMSE reduction over persistence — the frozen backbone encodes real structure.</a:t>
            </a:r>
          </a:p>
        </p:txBody>
      </p:sp>
      <p:pic>
        <p:nvPicPr>
          <p:cNvPr id="7" name="Picture 6" descr="forecaster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54680"/>
            <a:ext cx="6949440" cy="20496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Result 2 — Decision Quality vs the Oracle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281 unseen states; always-Hold alone would score 36.3 %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1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9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813815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9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Gill Sans MT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Gill Sans MT"/>
                        </a:rPr>
                        <a:t>Accuracy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Gill Sans MT"/>
                        </a:rPr>
                        <a:t>F1 (macro)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Gill Sans MT"/>
                        </a:rPr>
                        <a:t>Cohen's κ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B3B3B"/>
                          </a:solidFill>
                          <a:latin typeface="Gill Sans MT"/>
                        </a:rPr>
                        <a:t>Transformer-DQN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B3B3B"/>
                          </a:solidFill>
                          <a:latin typeface="Gill Sans MT"/>
                        </a:rPr>
                        <a:t>0.683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B3B3B"/>
                          </a:solidFill>
                          <a:latin typeface="Gill Sans MT"/>
                        </a:rPr>
                        <a:t>0.448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B3B3B"/>
                          </a:solidFill>
                          <a:latin typeface="Gill Sans MT"/>
                        </a:rPr>
                        <a:t>0.586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TransferAgent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0.577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0.312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0.436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Baseline: always Hold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0.363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0.089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0.000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Baseline: random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0.114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0.090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B3B3B"/>
                          </a:solidFill>
                          <a:latin typeface="Gill Sans MT"/>
                        </a:rPr>
                        <a:t>−0.026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06324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EA0B0"/>
                </a:solidFill>
                <a:latin typeface="Gill Sans MT"/>
              </a:rPr>
              <a:t>Always-Hold reaches 0.363 accuracy but κ = 0.000 — chance correction is what separates a policy from a label-frequency artefact.</a:t>
            </a:r>
          </a:p>
        </p:txBody>
      </p:sp>
      <p:pic>
        <p:nvPicPr>
          <p:cNvPr id="7" name="Picture 6" descr="dqn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687" y="3611880"/>
            <a:ext cx="5766625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Result 3 — Physical Grid Performance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Centralized paradigm — 240 unseen hours, unmanaged total 16 303.73 MW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E6E6E"/>
                </a:solidFill>
                <a:latin typeface="Gill Sans MT"/>
              </a:rPr>
              <a:t>20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81381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1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Policy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Reduction (%)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Transmission cost (MW)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Active hours (%)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Greedy oracle (ceiling)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24.39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150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62.5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B3B3B"/>
                          </a:solidFill>
                          <a:latin typeface="Gill Sans MT"/>
                        </a:rPr>
                        <a:t>Transformer-DQN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B3B3B"/>
                          </a:solidFill>
                          <a:latin typeface="Gill Sans MT"/>
                        </a:rPr>
                        <a:t>23.52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B3B3B"/>
                          </a:solidFill>
                          <a:latin typeface="Gill Sans MT"/>
                        </a:rPr>
                        <a:t>201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B3B3B"/>
                          </a:solidFill>
                          <a:latin typeface="Gill Sans MT"/>
                        </a:rPr>
                        <a:t>83.8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TransferAgent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22.04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223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92.9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Baseline: always Hold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0.00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0.0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Baseline: random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−14.91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202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84.2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280160" y="3520440"/>
            <a:ext cx="3191256" cy="109728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5875">
            <a:solidFill>
              <a:srgbClr val="CCA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600" b="1">
                <a:solidFill>
                  <a:srgbClr val="CCAF0A"/>
                </a:solidFill>
                <a:latin typeface="Bookman Old Style"/>
              </a:rPr>
              <a:t>96 %</a:t>
            </a:r>
          </a:p>
          <a:p>
            <a:pPr algn="ctr"/>
            <a:r>
              <a:rPr sz="1150">
                <a:solidFill>
                  <a:srgbClr val="3B3B3B"/>
                </a:solidFill>
                <a:latin typeface="Gill Sans MT"/>
              </a:rPr>
              <a:t>of the achievable control
recovered by the DQN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3520440"/>
            <a:ext cx="3191256" cy="109728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5875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600" b="1">
                <a:solidFill>
                  <a:srgbClr val="6E6E6E"/>
                </a:solidFill>
                <a:latin typeface="Bookman Old Style"/>
              </a:rPr>
              <a:t>−14.91 %</a:t>
            </a:r>
          </a:p>
          <a:p>
            <a:pPr algn="ctr"/>
            <a:r>
              <a:rPr sz="1150">
                <a:solidFill>
                  <a:srgbClr val="3B3B3B"/>
                </a:solidFill>
                <a:latin typeface="Gill Sans MT"/>
              </a:rPr>
              <a:t>random policy — acting badly
is worse than not acting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6EA0B0"/>
                </a:solidFill>
                <a:latin typeface="Gill Sans MT"/>
              </a:rPr>
              <a:t>The oracle ceiling is what makes 23.52 % readable as “nearly optimal” rather than “just a number”.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Result 4 — Learned Routing Behaviour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24-hour telemetry: 1 352.0 MW unmanaged → 920.9 MW managed (+31.9 %)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1892" y="6355080"/>
            <a:ext cx="2920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2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`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pic>
        <p:nvPicPr>
          <p:cNvPr id="5" name="Picture 4" descr="grid_power_transf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44" y="1417320"/>
            <a:ext cx="499991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1500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6EA0B0"/>
                </a:solidFill>
                <a:latin typeface="Gill Sans MT"/>
              </a:rPr>
              <a:t>Morning: A surplus → routes A→B.   Midday: all nodes in deficit → correctly Holds.   Evening: B recovers → switches to B→A.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Result 5 — The Decentralized Negative Result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Reported as measured, not tuned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2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2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8138158" cy="1603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0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Policy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Reduction (%)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Transmission cost (MW)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Gill Sans MT"/>
                        </a:rPr>
                        <a:t>Mean | imbalance | / h (MW)</a:t>
                      </a:r>
                    </a:p>
                  </a:txBody>
                  <a:tcPr marL="64008" marR="64008" marT="27432" marB="27432" anchor="ctr">
                    <a:solidFill>
                      <a:srgbClr val="6EA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Rule-based proportional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21.71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160.03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48.74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No control (sanity check)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0.00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0.00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B3B3B"/>
                          </a:solidFill>
                          <a:latin typeface="Gill Sans MT"/>
                        </a:rPr>
                        <a:t>62.26</a:t>
                      </a:r>
                    </a:p>
                  </a:txBody>
                  <a:tcPr marL="64008" marR="64008" marT="27432" marB="27432" anchor="ctr"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B3B3B"/>
                          </a:solidFill>
                          <a:latin typeface="Gill Sans MT"/>
                        </a:rPr>
                        <a:t>Decentralized PPO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B3B3B"/>
                          </a:solidFill>
                          <a:latin typeface="Gill Sans MT"/>
                        </a:rPr>
                        <a:t>−14.93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B3B3B"/>
                          </a:solidFill>
                          <a:latin typeface="Gill Sans MT"/>
                        </a:rPr>
                        <a:t>297.49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B3B3B"/>
                          </a:solidFill>
                          <a:latin typeface="Gill Sans MT"/>
                        </a:rPr>
                        <a:t>71.55</a:t>
                      </a:r>
                    </a:p>
                  </a:txBody>
                  <a:tcPr marL="64008" marR="64008" marT="27432" marB="27432" anchor="ctr">
                    <a:solidFill>
                      <a:srgbClr val="F7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971800"/>
            <a:ext cx="81381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The learned controller is worse than doing nothing — and worse than a one-line heuristic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Telemetry: line A→B saturates at 25 MW within five hours and stays there; B→C and C→A stay at 0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Cause 1: reward is local, but each node's imbalance depends on its neighbour's line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Cause 2: ±5 MW/h delta cannot follow swings several times larger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Cause 3: all three nodes are usually in deficit at once, so saturating a line is locally rational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Rebalancing the critic loss and raising the learning rate were measured — neither fixed 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Result 5 (cont.) — Why It Fails</a:t>
            </a:r>
          </a:p>
          <a:p>
            <a:pPr algn="l"/>
            <a:r>
              <a:rPr sz="1250">
                <a:solidFill>
                  <a:srgbClr val="EAF3F6"/>
                </a:solidFill>
                <a:latin typeface="Gill Sans MT"/>
              </a:rPr>
              <a:t>Shunt levels stop tracking the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2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3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pic>
        <p:nvPicPr>
          <p:cNvPr id="5" name="Picture 4" descr="marl_ppo_decentralized_balan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281" y="1325880"/>
            <a:ext cx="6097437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6EA0B0"/>
                </a:solidFill>
                <a:latin typeface="Gill Sans MT"/>
              </a:rPr>
              <a:t>At hour 05 node A sits at −35.4 MW and is still exporting 25 MW — a constant transfer applied to a signal that reverses sign.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Paradigm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2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4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pic>
        <p:nvPicPr>
          <p:cNvPr id="5" name="Picture 4" descr="fig_paradig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15" y="1097280"/>
            <a:ext cx="7246169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17720"/>
            <a:ext cx="8138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Centralized: 23.52 % against a 24.39 % ceiling — 96 % of the achievable control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Decentralized: −14.93 % against 21.71 % for the classical proportional rule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>
                <a:solidFill>
                  <a:srgbClr val="3B3B3B"/>
                </a:solidFill>
                <a:latin typeface="Gill Sans MT"/>
              </a:rPr>
              <a:t>▪  The information gap plus local-only credit assignment costs more than the scalability it buys — on this task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2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5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138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The grid is synthetic — no real weather, demand or price data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Idealised transmission: no losses, impedance, voltage or frequency dynamics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Centralized action space allows one 20 MW transfer per hour — this bounds the ceiling at 24.39 %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Single seeded run per result — run-to-run variance is not quantified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The two paradigms use different test windows, so each is read against its own references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</a:pPr>
            <a:r>
              <a:rPr sz="1700">
                <a:solidFill>
                  <a:srgbClr val="3B3B3B"/>
                </a:solidFill>
                <a:latin typeface="Gill Sans MT"/>
              </a:rPr>
              <a:t>▪  Modest budgets (60 DQN / 400 PPO episodes) — neither controller is claimed to be converged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E6E6E"/>
                </a:solidFill>
                <a:latin typeface="Gill Sans MT"/>
              </a:rPr>
              <a:t>26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5875">
            <a:solidFill>
              <a:srgbClr val="6E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600" b="1">
                <a:solidFill>
                  <a:srgbClr val="6EA0B0"/>
                </a:solidFill>
                <a:latin typeface="Bookman Old Style"/>
              </a:rPr>
              <a:t>R² 0.911</a:t>
            </a:r>
          </a:p>
          <a:p>
            <a:pPr algn="ctr"/>
            <a:r>
              <a:rPr sz="1150">
                <a:solidFill>
                  <a:srgbClr val="3B3B3B"/>
                </a:solidFill>
                <a:latin typeface="Gill Sans MT"/>
              </a:rPr>
              <a:t>LSTM forecaster
on a chronological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82696" y="1188720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5875">
            <a:solidFill>
              <a:srgbClr val="CCAF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600" b="1">
                <a:solidFill>
                  <a:srgbClr val="CCAF0A"/>
                </a:solidFill>
                <a:latin typeface="Bookman Old Style"/>
              </a:rPr>
              <a:t>κ 0.586</a:t>
            </a:r>
          </a:p>
          <a:p>
            <a:pPr algn="ctr"/>
            <a:r>
              <a:rPr sz="1150">
                <a:solidFill>
                  <a:srgbClr val="3B3B3B"/>
                </a:solidFill>
                <a:latin typeface="Gill Sans MT"/>
              </a:rPr>
              <a:t>DQN vs oracle
(always-Hold: 0.000)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62472" y="1188720"/>
            <a:ext cx="2578608" cy="114300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5875">
            <a:solidFill>
              <a:srgbClr val="8D8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600" b="1">
                <a:solidFill>
                  <a:srgbClr val="8D89A4"/>
                </a:solidFill>
                <a:latin typeface="Bookman Old Style"/>
              </a:rPr>
              <a:t>21.71 %</a:t>
            </a:r>
          </a:p>
          <a:p>
            <a:pPr algn="ctr"/>
            <a:r>
              <a:rPr sz="1150">
                <a:solidFill>
                  <a:srgbClr val="3B3B3B"/>
                </a:solidFill>
                <a:latin typeface="Gill Sans MT"/>
              </a:rPr>
              <a:t>rule-based beats
the learned PPO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8138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The centralized DQN recovers nearly all the control its actions permit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A frozen forecasting encoder is not automatically a good control encoder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Decentralized PPO did not learn a usable policy — the cause is diagnosed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50">
                <a:solidFill>
                  <a:srgbClr val="3B3B3B"/>
                </a:solidFill>
                <a:latin typeface="Gill Sans MT"/>
              </a:rPr>
              <a:t>▪  A percentage means nothing without a baseline and a ceiling beside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321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6EA0B0"/>
                </a:solidFill>
                <a:latin typeface="Gill Sans MT"/>
              </a:rPr>
              <a:t>23.52 % is excellent because the ceiling is 24.39 %.   −14.93 % is a failure because doing nothing scores 0.00 %.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2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7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977639" cy="402336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Fix what failed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3977639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Shared or mixed reward instead of purely local credit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Widen the per-hour delta bound so the shunt can track the signal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Evaluate MAPPO / QMIX against the same rule-based reference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Fine-tune rather than freeze the forecasting 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234440"/>
            <a:ext cx="3977639" cy="402336"/>
          </a:xfrm>
          <a:prstGeom prst="rect">
            <a:avLst/>
          </a:prstGeom>
          <a:solidFill>
            <a:srgbClr val="8D8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ill Sans MT"/>
              </a:rPr>
              <a:t>Extend the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3977639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Replace the simulator with real substation and weather data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Add line losses, impedance and storage as a controllable element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Scale beyond three nodes — where decentralization should pay off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3B3B3B"/>
                </a:solidFill>
                <a:latin typeface="Gill Sans MT"/>
              </a:rPr>
              <a:t>▪  Repeat over multiple seeds and report confidence intervals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tIns="54864" rIns="320040" bIns="36576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Bookman Old Style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2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8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>
                <a:solidFill>
                  <a:srgbClr val="3B3B3B"/>
                </a:solidFill>
                <a:latin typeface="Gill Sans MT"/>
              </a:rPr>
              <a:t>▪  V. Mnih et al., “Human-level control through deep reinforcement learning,” Nature, vol. 518, pp. 529–533, 2015.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>
                <a:solidFill>
                  <a:srgbClr val="3B3B3B"/>
                </a:solidFill>
                <a:latin typeface="Gill Sans MT"/>
              </a:rPr>
              <a:t>▪  J. Schulman et al., “Proximal policy optimization algorithms,” arXiv:1707.06347, 2017.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>
                <a:solidFill>
                  <a:srgbClr val="3B3B3B"/>
                </a:solidFill>
                <a:latin typeface="Gill Sans MT"/>
              </a:rPr>
              <a:t>▪  J. Schulman et al., “High-dimensional continuous control using generalized advantage estimation,” ICLR, 2016.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>
                <a:solidFill>
                  <a:srgbClr val="3B3B3B"/>
                </a:solidFill>
                <a:latin typeface="Gill Sans MT"/>
              </a:rPr>
              <a:t>▪  A. Vaswani et al., “Attention is all you need,” NeurIPS, pp. 5998–6008, 2017.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>
                <a:solidFill>
                  <a:srgbClr val="3B3B3B"/>
                </a:solidFill>
                <a:latin typeface="Gill Sans MT"/>
              </a:rPr>
              <a:t>▪  S. Hochreiter and J. Schmidhuber, “Long short-term memory,” Neural Computation, vol. 9, no. 8, pp. 1735–1780, 1997.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>
                <a:solidFill>
                  <a:srgbClr val="3B3B3B"/>
                </a:solidFill>
                <a:latin typeface="Gill Sans MT"/>
              </a:rPr>
              <a:t>▪  J. Terry et al., “PettingZoo: Gym for multi-agent reinforcement learning,” NeurIPS, vol. 34, pp. 15032–15043, 2021.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>
                <a:solidFill>
                  <a:srgbClr val="3B3B3B"/>
                </a:solidFill>
                <a:latin typeface="Gill Sans MT"/>
              </a:rPr>
              <a:t>▪  J. Cohen, “A coefficient of agreement for nominal scales,” Educ. Psychol. Meas., vol. 20, no. 1, pp. 37–46, 1960.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>
                <a:solidFill>
                  <a:srgbClr val="3B3B3B"/>
                </a:solidFill>
                <a:latin typeface="Gill Sans MT"/>
              </a:rPr>
              <a:t>▪  R. S. Sutton and A. G. Barto, Reinforcement Learning: An Introduction, 2nd ed. MIT Press, 2018.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71500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6EA0B0"/>
                </a:solidFill>
                <a:latin typeface="Gill Sans MT"/>
              </a:rPr>
              <a:t>The full IEEE reference list is given in the project report.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14600"/>
            <a:ext cx="9144000" cy="1188720"/>
          </a:xfrm>
          <a:prstGeom prst="rect">
            <a:avLst/>
          </a:prstGeom>
          <a:solidFill>
            <a:srgbClr val="6E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Bookman Old Style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11053" y="6355080"/>
            <a:ext cx="3129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E6E6E"/>
                </a:solidFill>
                <a:latin typeface="Gill Sans MT"/>
              </a:rPr>
              <a:t>2</a:t>
            </a:r>
            <a:r>
              <a:rPr lang="en-US" sz="1000" dirty="0">
                <a:solidFill>
                  <a:srgbClr val="6E6E6E"/>
                </a:solidFill>
                <a:latin typeface="Gill Sans MT"/>
              </a:rPr>
              <a:t>9</a:t>
            </a:r>
            <a:endParaRPr sz="1000" dirty="0">
              <a:solidFill>
                <a:srgbClr val="6E6E6E"/>
              </a:solidFill>
              <a:latin typeface="Gill Sans M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8A8A8"/>
                </a:solidFill>
                <a:latin typeface="Gill Sans MT"/>
              </a:rPr>
              <a:t>DSE3170  Project Based Learning-3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2019</TotalTime>
  <Words>2501</Words>
  <Application>Microsoft Macintosh PowerPoint</Application>
  <PresentationFormat>On-screen Show (4:3)</PresentationFormat>
  <Paragraphs>364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Bookman Old Style</vt:lpstr>
      <vt:lpstr>Calibri</vt:lpstr>
      <vt:lpstr>Gill Sans MT</vt:lpstr>
      <vt:lpstr>Times New Roman</vt:lpstr>
      <vt:lpstr>Wingdings</vt:lpstr>
      <vt:lpstr>Office Theme</vt:lpstr>
      <vt:lpstr>Manipal University Jaipur School of Computer Science and Engineering Department of Data Science and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himanshu</dc:creator>
  <cp:lastModifiedBy>Krish Jariwala [CSE (DATA SCIENCE) - 2024]</cp:lastModifiedBy>
  <cp:revision>224</cp:revision>
  <dcterms:created xsi:type="dcterms:W3CDTF">2015-11-17T05:40:42Z</dcterms:created>
  <dcterms:modified xsi:type="dcterms:W3CDTF">2026-10-05T09:19:13Z</dcterms:modified>
</cp:coreProperties>
</file>